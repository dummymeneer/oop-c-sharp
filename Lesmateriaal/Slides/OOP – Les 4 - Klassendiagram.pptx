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81" r:id="rId5"/>
    <p:sldId id="285" r:id="rId6"/>
    <p:sldId id="282" r:id="rId7"/>
    <p:sldId id="273" r:id="rId8"/>
    <p:sldId id="288" r:id="rId9"/>
    <p:sldId id="289" r:id="rId10"/>
    <p:sldId id="290" r:id="rId11"/>
    <p:sldId id="257" r:id="rId12"/>
    <p:sldId id="283" r:id="rId13"/>
    <p:sldId id="286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81" autoAdjust="0"/>
  </p:normalViewPr>
  <p:slideViewPr>
    <p:cSldViewPr snapToGrid="0">
      <p:cViewPr>
        <p:scale>
          <a:sx n="100" d="100"/>
          <a:sy n="100" d="100"/>
        </p:scale>
        <p:origin x="348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3-3-2026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3-3-2026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OOP – Les 4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15" y="4246087"/>
            <a:ext cx="5511800" cy="1655762"/>
          </a:xfrm>
        </p:spPr>
        <p:txBody>
          <a:bodyPr/>
          <a:lstStyle/>
          <a:p>
            <a:r>
              <a:rPr lang="nl-NL" noProof="0" dirty="0"/>
              <a:t>Klassendiagram</a:t>
            </a:r>
          </a:p>
        </p:txBody>
      </p:sp>
      <p:pic>
        <p:nvPicPr>
          <p:cNvPr id="4" name="Graphic 3" descr="Stroomdiagram silhouet">
            <a:extLst>
              <a:ext uri="{FF2B5EF4-FFF2-40B4-BE49-F238E27FC236}">
                <a16:creationId xmlns:a16="http://schemas.microsoft.com/office/drawing/2014/main" id="{E391F82A-2FAD-38E6-7DF8-94CCA0209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9868" y="1254958"/>
            <a:ext cx="2457874" cy="2457874"/>
          </a:xfrm>
          <a:prstGeom prst="rect">
            <a:avLst/>
          </a:prstGeom>
        </p:spPr>
      </p:pic>
      <p:pic>
        <p:nvPicPr>
          <p:cNvPr id="5" name="Graphic 4" descr="Beslisdiagram silhouet">
            <a:extLst>
              <a:ext uri="{FF2B5EF4-FFF2-40B4-BE49-F238E27FC236}">
                <a16:creationId xmlns:a16="http://schemas.microsoft.com/office/drawing/2014/main" id="{7BFDBC03-E61C-C0A6-5BC6-C04C1C49B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9796" y="2872169"/>
            <a:ext cx="2086455" cy="2086455"/>
          </a:xfrm>
          <a:prstGeom prst="rect">
            <a:avLst/>
          </a:prstGeom>
        </p:spPr>
      </p:pic>
      <p:pic>
        <p:nvPicPr>
          <p:cNvPr id="6" name="Graphic 5" descr="Netwerkdiagram met effen opvulling">
            <a:extLst>
              <a:ext uri="{FF2B5EF4-FFF2-40B4-BE49-F238E27FC236}">
                <a16:creationId xmlns:a16="http://schemas.microsoft.com/office/drawing/2014/main" id="{8F707161-F370-5E3F-C96D-EA89147551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90654" y="387450"/>
            <a:ext cx="3839975" cy="189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A6729-DA06-A31E-E186-DB4347C4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437312-C8EB-5B12-F319-32106D696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Vorige week</a:t>
            </a:r>
          </a:p>
          <a:p>
            <a:r>
              <a:rPr lang="nl-NL" dirty="0"/>
              <a:t>Leerdoelen</a:t>
            </a:r>
            <a:endParaRPr lang="nl-NL" noProof="0" dirty="0"/>
          </a:p>
          <a:p>
            <a:r>
              <a:rPr lang="nl-NL" noProof="0" dirty="0"/>
              <a:t>Klassendiagram</a:t>
            </a:r>
          </a:p>
          <a:p>
            <a:r>
              <a:rPr lang="nl-NL" noProof="0" dirty="0"/>
              <a:t>Opdrachten</a:t>
            </a:r>
          </a:p>
        </p:txBody>
      </p:sp>
    </p:spTree>
    <p:extLst>
      <p:ext uri="{BB962C8B-B14F-4D97-AF65-F5344CB8AC3E}">
        <p14:creationId xmlns:p14="http://schemas.microsoft.com/office/powerpoint/2010/main" val="123615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A0F23-22E6-58D7-C22F-91EA7D2C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Vorige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53466E-5F76-0176-A861-51222D98E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40646" cy="3872442"/>
          </a:xfrm>
        </p:spPr>
        <p:txBody>
          <a:bodyPr/>
          <a:lstStyle/>
          <a:p>
            <a:r>
              <a:rPr lang="nl-NL" dirty="0" err="1"/>
              <a:t>Constructors</a:t>
            </a:r>
            <a:endParaRPr lang="nl-NL" noProof="0" dirty="0"/>
          </a:p>
          <a:p>
            <a:r>
              <a:rPr lang="nl-NL" noProof="0" dirty="0" err="1"/>
              <a:t>Encapsulation</a:t>
            </a:r>
            <a:endParaRPr lang="nl-NL" noProof="0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67E8C30-F904-3C53-4849-42D24324A690}"/>
              </a:ext>
            </a:extLst>
          </p:cNvPr>
          <p:cNvSpPr txBox="1"/>
          <p:nvPr/>
        </p:nvSpPr>
        <p:spPr>
          <a:xfrm>
            <a:off x="6793562" y="1325573"/>
            <a:ext cx="38662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b="1" dirty="0"/>
              <a:t>Public of Private?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01B4D80-2339-1AF0-379E-AC5901BBFABE}"/>
              </a:ext>
            </a:extLst>
          </p:cNvPr>
          <p:cNvSpPr txBox="1"/>
          <p:nvPr/>
        </p:nvSpPr>
        <p:spPr>
          <a:xfrm>
            <a:off x="6413074" y="2141783"/>
            <a:ext cx="494072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Geld op een bankrekening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Laatst ingelogd datum in een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ID van een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400" dirty="0"/>
              <a:t>Voorkeur van </a:t>
            </a:r>
            <a:r>
              <a:rPr lang="nl-NL" sz="2400" dirty="0" err="1"/>
              <a:t>dark</a:t>
            </a:r>
            <a:r>
              <a:rPr lang="nl-NL" sz="2400" dirty="0"/>
              <a:t> </a:t>
            </a:r>
            <a:r>
              <a:rPr lang="nl-NL" sz="2400" dirty="0" err="1"/>
              <a:t>theme</a:t>
            </a:r>
            <a:r>
              <a:rPr lang="nl-NL" sz="2400" dirty="0"/>
              <a:t> op een applicatie</a:t>
            </a:r>
          </a:p>
        </p:txBody>
      </p:sp>
    </p:spTree>
    <p:extLst>
      <p:ext uri="{BB962C8B-B14F-4D97-AF65-F5344CB8AC3E}">
        <p14:creationId xmlns:p14="http://schemas.microsoft.com/office/powerpoint/2010/main" val="217067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CBBC5-EDC9-C745-8ABA-F842D529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Fietsenwinkel met 15 fietsen, welke is beter?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B5892A-E84B-FB3E-CCA2-B28BAF9F5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121"/>
            <a:ext cx="4421134" cy="4347946"/>
          </a:xfrm>
        </p:spPr>
        <p:txBody>
          <a:bodyPr>
            <a:no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nl-NL" sz="300" dirty="0"/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nl-NL" sz="3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727D34E-448F-DCF8-0438-26AA973B3253}"/>
              </a:ext>
            </a:extLst>
          </p:cNvPr>
          <p:cNvSpPr txBox="1"/>
          <p:nvPr/>
        </p:nvSpPr>
        <p:spPr>
          <a:xfrm>
            <a:off x="4516767" y="1527749"/>
            <a:ext cx="7241557" cy="41549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r>
              <a:rPr lang="nl-NL" sz="1600" dirty="0"/>
              <a:t>Fiets </a:t>
            </a:r>
            <a:r>
              <a:rPr lang="nl-NL" sz="1600" dirty="0" err="1"/>
              <a:t>fiets</a:t>
            </a:r>
            <a:r>
              <a:rPr lang="nl-NL" sz="1600" dirty="0"/>
              <a:t> = new Fiets(</a:t>
            </a:r>
            <a:r>
              <a:rPr lang="nl-NL" sz="1600" dirty="0" err="1"/>
              <a:t>Merk.Batavus</a:t>
            </a:r>
            <a:r>
              <a:rPr lang="nl-NL" sz="1600" dirty="0"/>
              <a:t>, 300, </a:t>
            </a:r>
            <a:r>
              <a:rPr lang="nl-NL" sz="1600" dirty="0" err="1"/>
              <a:t>Kleur.Blauw</a:t>
            </a:r>
            <a:r>
              <a:rPr lang="nl-NL" sz="1600" dirty="0"/>
              <a:t>, </a:t>
            </a:r>
            <a:r>
              <a:rPr lang="nl-NL" sz="1600" dirty="0" err="1"/>
              <a:t>false</a:t>
            </a:r>
            <a:r>
              <a:rPr lang="nl-NL" sz="1600" dirty="0"/>
              <a:t>, </a:t>
            </a:r>
            <a:r>
              <a:rPr lang="nl-NL" sz="1600" dirty="0" err="1"/>
              <a:t>true</a:t>
            </a:r>
            <a:r>
              <a:rPr lang="nl-NL" sz="1600" dirty="0"/>
              <a:t>, 22/2/2025, 3);</a:t>
            </a:r>
          </a:p>
          <a:p>
            <a:endParaRPr lang="nl-NL" sz="1600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4B1307C3-A383-7A6A-F732-28284225DB20}"/>
              </a:ext>
            </a:extLst>
          </p:cNvPr>
          <p:cNvSpPr txBox="1"/>
          <p:nvPr/>
        </p:nvSpPr>
        <p:spPr>
          <a:xfrm>
            <a:off x="3048767" y="3059668"/>
            <a:ext cx="110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OF</a:t>
            </a:r>
          </a:p>
        </p:txBody>
      </p:sp>
    </p:spTree>
    <p:extLst>
      <p:ext uri="{BB962C8B-B14F-4D97-AF65-F5344CB8AC3E}">
        <p14:creationId xmlns:p14="http://schemas.microsoft.com/office/powerpoint/2010/main" val="354649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2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6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8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2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2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4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2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6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2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8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2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2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2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2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4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2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6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2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8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2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2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2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40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2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6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2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80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2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0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20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2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20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4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20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600"/>
                            </p:stCondLst>
                            <p:childTnLst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200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6800"/>
                            </p:stCondLst>
                            <p:childTnLst>
                              <p:par>
                                <p:cTn id="1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200"/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70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200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00"/>
                            </p:stCondLst>
                            <p:childTnLst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200"/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7400"/>
                            </p:stCondLst>
                            <p:childTnLst>
                              <p:par>
                                <p:cTn id="1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200"/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7600"/>
                            </p:stCondLst>
                            <p:childTnLst>
                              <p:par>
                                <p:cTn id="1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200"/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7800"/>
                            </p:stCondLst>
                            <p:childTnLst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200"/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80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200"/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8200"/>
                            </p:stCondLst>
                            <p:childTnLst>
                              <p:par>
                                <p:cTn id="1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200"/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400"/>
                            </p:stCondLst>
                            <p:childTnLst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200"/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8600"/>
                            </p:stCondLst>
                            <p:childTnLst>
                              <p:par>
                                <p:cTn id="1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200"/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8800"/>
                            </p:stCondLst>
                            <p:childTnLst>
                              <p:par>
                                <p:cTn id="1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200"/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9000"/>
                            </p:stCondLst>
                            <p:childTnLst>
                              <p:par>
                                <p:cTn id="1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200"/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9200"/>
                            </p:stCondLst>
                            <p:childTnLst>
                              <p:par>
                                <p:cTn id="1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200"/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9400"/>
                            </p:stCondLst>
                            <p:childTnLst>
                              <p:par>
                                <p:cTn id="1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200"/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9600"/>
                            </p:stCondLst>
                            <p:childTnLst>
                              <p:par>
                                <p:cTn id="1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200"/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9800"/>
                            </p:stCondLst>
                            <p:childTnLst>
                              <p:par>
                                <p:cTn id="2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200"/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200"/>
                                        <p:tgtEl>
                                          <p:spTgt spid="3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0200"/>
                            </p:stCondLst>
                            <p:childTnLst>
                              <p:par>
                                <p:cTn id="2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200"/>
                                        <p:tgtEl>
                                          <p:spTgt spid="3">
                                            <p:txEl>
                                              <p:pRg st="51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0400"/>
                            </p:stCondLst>
                            <p:childTnLst>
                              <p:par>
                                <p:cTn id="2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200"/>
                                        <p:tgtEl>
                                          <p:spTgt spid="3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0600"/>
                            </p:stCondLst>
                            <p:childTnLst>
                              <p:par>
                                <p:cTn id="2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3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200"/>
                                        <p:tgtEl>
                                          <p:spTgt spid="3">
                                            <p:txEl>
                                              <p:pRg st="53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0800"/>
                            </p:stCondLst>
                            <p:childTnLst>
                              <p:par>
                                <p:cTn id="2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200"/>
                                        <p:tgtEl>
                                          <p:spTgt spid="3">
                                            <p:txEl>
                                              <p:pRg st="54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200"/>
                                        <p:tgtEl>
                                          <p:spTgt spid="3">
                                            <p:txEl>
                                              <p:pRg st="55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1200"/>
                            </p:stCondLst>
                            <p:childTnLst>
                              <p:par>
                                <p:cTn id="2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200"/>
                                        <p:tgtEl>
                                          <p:spTgt spid="3">
                                            <p:txEl>
                                              <p:pRg st="56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1400"/>
                            </p:stCondLst>
                            <p:childTnLst>
                              <p:par>
                                <p:cTn id="2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200"/>
                                        <p:tgtEl>
                                          <p:spTgt spid="3">
                                            <p:txEl>
                                              <p:pRg st="57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1600"/>
                            </p:stCondLst>
                            <p:childTnLst>
                              <p:par>
                                <p:cTn id="2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200"/>
                                        <p:tgtEl>
                                          <p:spTgt spid="3">
                                            <p:txEl>
                                              <p:pRg st="58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1800"/>
                            </p:stCondLst>
                            <p:childTnLst>
                              <p:par>
                                <p:cTn id="2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200"/>
                                        <p:tgtEl>
                                          <p:spTgt spid="3">
                                            <p:txEl>
                                              <p:pRg st="59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2000"/>
                            </p:stCondLst>
                            <p:childTnLst>
                              <p:par>
                                <p:cTn id="2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200"/>
                                        <p:tgtEl>
                                          <p:spTgt spid="3">
                                            <p:txEl>
                                              <p:pRg st="6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2200"/>
                            </p:stCondLst>
                            <p:childTnLst>
                              <p:par>
                                <p:cTn id="2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1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200"/>
                                        <p:tgtEl>
                                          <p:spTgt spid="3">
                                            <p:txEl>
                                              <p:pRg st="61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2400"/>
                            </p:stCondLst>
                            <p:childTnLst>
                              <p:par>
                                <p:cTn id="2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200"/>
                                        <p:tgtEl>
                                          <p:spTgt spid="3">
                                            <p:txEl>
                                              <p:pRg st="62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2600"/>
                            </p:stCondLst>
                            <p:childTnLst>
                              <p:par>
                                <p:cTn id="2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200"/>
                                        <p:tgtEl>
                                          <p:spTgt spid="3">
                                            <p:txEl>
                                              <p:pRg st="63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2800"/>
                            </p:stCondLst>
                            <p:childTnLst>
                              <p:par>
                                <p:cTn id="2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200"/>
                                        <p:tgtEl>
                                          <p:spTgt spid="3">
                                            <p:txEl>
                                              <p:pRg st="64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3000"/>
                            </p:stCondLst>
                            <p:childTnLst>
                              <p:par>
                                <p:cTn id="2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200"/>
                                        <p:tgtEl>
                                          <p:spTgt spid="3">
                                            <p:txEl>
                                              <p:pRg st="65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3200"/>
                            </p:stCondLst>
                            <p:childTnLst>
                              <p:par>
                                <p:cTn id="2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6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200"/>
                                        <p:tgtEl>
                                          <p:spTgt spid="3">
                                            <p:txEl>
                                              <p:pRg st="66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13400"/>
                            </p:stCondLst>
                            <p:childTnLst>
                              <p:par>
                                <p:cTn id="2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200"/>
                                        <p:tgtEl>
                                          <p:spTgt spid="3">
                                            <p:txEl>
                                              <p:pRg st="67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3600"/>
                            </p:stCondLst>
                            <p:childTnLst>
                              <p:par>
                                <p:cTn id="2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200"/>
                                        <p:tgtEl>
                                          <p:spTgt spid="3">
                                            <p:txEl>
                                              <p:p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13800"/>
                            </p:stCondLst>
                            <p:childTnLst>
                              <p:par>
                                <p:cTn id="2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200"/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4000"/>
                            </p:stCondLst>
                            <p:childTnLst>
                              <p:par>
                                <p:cTn id="2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200"/>
                                        <p:tgtEl>
                                          <p:spTgt spid="3">
                                            <p:txEl>
                                              <p:pRg st="7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14200"/>
                            </p:stCondLst>
                            <p:childTnLst>
                              <p:par>
                                <p:cTn id="2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1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200"/>
                                        <p:tgtEl>
                                          <p:spTgt spid="3">
                                            <p:txEl>
                                              <p:pRg st="71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4400"/>
                            </p:stCondLst>
                            <p:childTnLst>
                              <p:par>
                                <p:cTn id="2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5" dur="200"/>
                                        <p:tgtEl>
                                          <p:spTgt spid="3">
                                            <p:txEl>
                                              <p:pRg st="72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14600"/>
                            </p:stCondLst>
                            <p:childTnLst>
                              <p:par>
                                <p:cTn id="2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9" dur="200"/>
                                        <p:tgtEl>
                                          <p:spTgt spid="3">
                                            <p:txEl>
                                              <p:pRg st="7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14800"/>
                            </p:stCondLst>
                            <p:childTnLst>
                              <p:par>
                                <p:cTn id="3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3" dur="200"/>
                                        <p:tgtEl>
                                          <p:spTgt spid="3">
                                            <p:txEl>
                                              <p:pRg st="74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5000"/>
                            </p:stCondLst>
                            <p:childTnLst>
                              <p:par>
                                <p:cTn id="3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5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7" dur="200"/>
                                        <p:tgtEl>
                                          <p:spTgt spid="3">
                                            <p:txEl>
                                              <p:pRg st="75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15200"/>
                            </p:stCondLst>
                            <p:childTnLst>
                              <p:par>
                                <p:cTn id="3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1" dur="200"/>
                                        <p:tgtEl>
                                          <p:spTgt spid="3">
                                            <p:txEl>
                                              <p:pRg st="76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5400"/>
                            </p:stCondLst>
                            <p:childTnLst>
                              <p:par>
                                <p:cTn id="3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5" dur="200"/>
                                        <p:tgtEl>
                                          <p:spTgt spid="3">
                                            <p:txEl>
                                              <p:pRg st="77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5600"/>
                            </p:stCondLst>
                            <p:childTnLst>
                              <p:par>
                                <p:cTn id="3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8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9" dur="200"/>
                                        <p:tgtEl>
                                          <p:spTgt spid="3">
                                            <p:txEl>
                                              <p:pRg st="78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15800"/>
                            </p:stCondLst>
                            <p:childTnLst>
                              <p:par>
                                <p:cTn id="3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9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3" dur="200"/>
                                        <p:tgtEl>
                                          <p:spTgt spid="3">
                                            <p:txEl>
                                              <p:pRg st="79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16000"/>
                            </p:stCondLst>
                            <p:childTnLst>
                              <p:par>
                                <p:cTn id="3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200"/>
                                        <p:tgtEl>
                                          <p:spTgt spid="3">
                                            <p:txEl>
                                              <p:pRg st="80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16200"/>
                            </p:stCondLst>
                            <p:childTnLst>
                              <p:par>
                                <p:cTn id="3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1" dur="200"/>
                                        <p:tgtEl>
                                          <p:spTgt spid="3">
                                            <p:txEl>
                                              <p:pRg st="81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16400"/>
                            </p:stCondLst>
                            <p:childTnLst>
                              <p:par>
                                <p:cTn id="3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5" dur="200"/>
                                        <p:tgtEl>
                                          <p:spTgt spid="3">
                                            <p:txEl>
                                              <p:pRg st="82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16600"/>
                            </p:stCondLst>
                            <p:childTnLst>
                              <p:par>
                                <p:cTn id="3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3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9" dur="200"/>
                                        <p:tgtEl>
                                          <p:spTgt spid="3">
                                            <p:txEl>
                                              <p:pRg st="83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16800"/>
                            </p:stCondLst>
                            <p:childTnLst>
                              <p:par>
                                <p:cTn id="3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4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200"/>
                                        <p:tgtEl>
                                          <p:spTgt spid="3">
                                            <p:txEl>
                                              <p:pRg st="84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7000"/>
                            </p:stCondLst>
                            <p:childTnLst>
                              <p:par>
                                <p:cTn id="3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5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7" dur="200"/>
                                        <p:tgtEl>
                                          <p:spTgt spid="3">
                                            <p:txEl>
                                              <p:pRg st="85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7200"/>
                            </p:stCondLst>
                            <p:childTnLst>
                              <p:par>
                                <p:cTn id="3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6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1" dur="200"/>
                                        <p:tgtEl>
                                          <p:spTgt spid="3">
                                            <p:txEl>
                                              <p:pRg st="86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17400"/>
                            </p:stCondLst>
                            <p:childTnLst>
                              <p:par>
                                <p:cTn id="3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5" dur="200"/>
                                        <p:tgtEl>
                                          <p:spTgt spid="3">
                                            <p:txEl>
                                              <p:pRg st="87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17600"/>
                            </p:stCondLst>
                            <p:childTnLst>
                              <p:par>
                                <p:cTn id="3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8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9" dur="200"/>
                                        <p:tgtEl>
                                          <p:spTgt spid="3">
                                            <p:txEl>
                                              <p:pRg st="88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17800"/>
                            </p:stCondLst>
                            <p:childTnLst>
                              <p:par>
                                <p:cTn id="3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3" dur="200"/>
                                        <p:tgtEl>
                                          <p:spTgt spid="3">
                                            <p:txEl>
                                              <p:pRg st="89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18000"/>
                            </p:stCondLst>
                            <p:childTnLst>
                              <p:par>
                                <p:cTn id="3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7" dur="200"/>
                                        <p:tgtEl>
                                          <p:spTgt spid="3">
                                            <p:txEl>
                                              <p:pRg st="90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18200"/>
                            </p:stCondLst>
                            <p:childTnLst>
                              <p:par>
                                <p:cTn id="3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1" dur="200"/>
                                        <p:tgtEl>
                                          <p:spTgt spid="3">
                                            <p:txEl>
                                              <p:pRg st="91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18400"/>
                            </p:stCondLst>
                            <p:childTnLst>
                              <p:par>
                                <p:cTn id="3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2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5" dur="200"/>
                                        <p:tgtEl>
                                          <p:spTgt spid="3">
                                            <p:txEl>
                                              <p:pRg st="92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3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3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9" dur="200"/>
                                        <p:tgtEl>
                                          <p:spTgt spid="3">
                                            <p:txEl>
                                              <p:pRg st="93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18800"/>
                            </p:stCondLst>
                            <p:childTnLst>
                              <p:par>
                                <p:cTn id="3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3" dur="200"/>
                                        <p:tgtEl>
                                          <p:spTgt spid="3">
                                            <p:txEl>
                                              <p:pRg st="94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9000"/>
                            </p:stCondLst>
                            <p:childTnLst>
                              <p:par>
                                <p:cTn id="3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7" dur="200"/>
                                        <p:tgtEl>
                                          <p:spTgt spid="3">
                                            <p:txEl>
                                              <p:pRg st="95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19200"/>
                            </p:stCondLst>
                            <p:childTnLst>
                              <p:par>
                                <p:cTn id="3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200"/>
                                        <p:tgtEl>
                                          <p:spTgt spid="3">
                                            <p:txEl>
                                              <p:pRg st="96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19400"/>
                            </p:stCondLst>
                            <p:childTnLst>
                              <p:par>
                                <p:cTn id="3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7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5" dur="200"/>
                                        <p:tgtEl>
                                          <p:spTgt spid="3">
                                            <p:txEl>
                                              <p:pRg st="97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fill="hold">
                            <p:stCondLst>
                              <p:cond delay="19600"/>
                            </p:stCondLst>
                            <p:childTnLst>
                              <p:par>
                                <p:cTn id="3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8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9" dur="200"/>
                                        <p:tgtEl>
                                          <p:spTgt spid="3">
                                            <p:txEl>
                                              <p:pRg st="98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19800"/>
                            </p:stCondLst>
                            <p:childTnLst>
                              <p:par>
                                <p:cTn id="4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3" dur="200"/>
                                        <p:tgtEl>
                                          <p:spTgt spid="3">
                                            <p:txEl>
                                              <p:pRg st="99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20000"/>
                            </p:stCondLst>
                            <p:childTnLst>
                              <p:par>
                                <p:cTn id="4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7" dur="200"/>
                                        <p:tgtEl>
                                          <p:spTgt spid="3">
                                            <p:txEl>
                                              <p:pRg st="100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20200"/>
                            </p:stCondLst>
                            <p:childTnLst>
                              <p:par>
                                <p:cTn id="4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1" dur="200"/>
                                        <p:tgtEl>
                                          <p:spTgt spid="3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0400"/>
                            </p:stCondLst>
                            <p:childTnLst>
                              <p:par>
                                <p:cTn id="4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2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5" dur="200"/>
                                        <p:tgtEl>
                                          <p:spTgt spid="3">
                                            <p:txEl>
                                              <p:pRg st="102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20600"/>
                            </p:stCondLst>
                            <p:childTnLst>
                              <p:par>
                                <p:cTn id="4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3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9" dur="200"/>
                                        <p:tgtEl>
                                          <p:spTgt spid="3">
                                            <p:txEl>
                                              <p:pRg st="103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0800"/>
                            </p:stCondLst>
                            <p:childTnLst>
                              <p:par>
                                <p:cTn id="4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4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3" dur="200"/>
                                        <p:tgtEl>
                                          <p:spTgt spid="3">
                                            <p:txEl>
                                              <p:pRg st="104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21000"/>
                            </p:stCondLst>
                            <p:childTnLst>
                              <p:par>
                                <p:cTn id="4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5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7" dur="200"/>
                                        <p:tgtEl>
                                          <p:spTgt spid="3">
                                            <p:txEl>
                                              <p:pRg st="105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21200"/>
                            </p:stCondLst>
                            <p:childTnLst>
                              <p:par>
                                <p:cTn id="4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6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1" dur="200"/>
                                        <p:tgtEl>
                                          <p:spTgt spid="3">
                                            <p:txEl>
                                              <p:pRg st="106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21400"/>
                            </p:stCondLst>
                            <p:childTnLst>
                              <p:par>
                                <p:cTn id="4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5" dur="200"/>
                                        <p:tgtEl>
                                          <p:spTgt spid="3">
                                            <p:txEl>
                                              <p:pRg st="107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21600"/>
                            </p:stCondLst>
                            <p:childTnLst>
                              <p:par>
                                <p:cTn id="4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9" dur="200"/>
                                        <p:tgtEl>
                                          <p:spTgt spid="3">
                                            <p:txEl>
                                              <p:pRg st="108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21800"/>
                            </p:stCondLst>
                            <p:childTnLst>
                              <p:par>
                                <p:cTn id="4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9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3" dur="200"/>
                                        <p:tgtEl>
                                          <p:spTgt spid="3">
                                            <p:txEl>
                                              <p:pRg st="109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22000"/>
                            </p:stCondLst>
                            <p:childTnLst>
                              <p:par>
                                <p:cTn id="4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7" dur="200"/>
                                        <p:tgtEl>
                                          <p:spTgt spid="3">
                                            <p:txEl>
                                              <p:pRg st="110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22200"/>
                            </p:stCondLst>
                            <p:childTnLst>
                              <p:par>
                                <p:cTn id="4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1" dur="200"/>
                                        <p:tgtEl>
                                          <p:spTgt spid="3">
                                            <p:txEl>
                                              <p:pRg st="111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22400"/>
                            </p:stCondLst>
                            <p:childTnLst>
                              <p:par>
                                <p:cTn id="4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2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5" dur="200"/>
                                        <p:tgtEl>
                                          <p:spTgt spid="3">
                                            <p:txEl>
                                              <p:pRg st="112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22600"/>
                            </p:stCondLst>
                            <p:childTnLst>
                              <p:par>
                                <p:cTn id="4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3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9" dur="200"/>
                                        <p:tgtEl>
                                          <p:spTgt spid="3">
                                            <p:txEl>
                                              <p:pRg st="113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22800"/>
                            </p:stCondLst>
                            <p:childTnLst>
                              <p:par>
                                <p:cTn id="4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3" dur="200"/>
                                        <p:tgtEl>
                                          <p:spTgt spid="3">
                                            <p:txEl>
                                              <p:pRg st="114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23000"/>
                            </p:stCondLst>
                            <p:childTnLst>
                              <p:par>
                                <p:cTn id="4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7" dur="200"/>
                                        <p:tgtEl>
                                          <p:spTgt spid="3">
                                            <p:txEl>
                                              <p:pRg st="115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23200"/>
                            </p:stCondLst>
                            <p:childTnLst>
                              <p:par>
                                <p:cTn id="4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1" dur="200"/>
                                        <p:tgtEl>
                                          <p:spTgt spid="3">
                                            <p:txEl>
                                              <p:pRg st="116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23400"/>
                            </p:stCondLst>
                            <p:childTnLst>
                              <p:par>
                                <p:cTn id="4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7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5" dur="200"/>
                                        <p:tgtEl>
                                          <p:spTgt spid="3">
                                            <p:txEl>
                                              <p:pRg st="117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>
                            <p:stCondLst>
                              <p:cond delay="23600"/>
                            </p:stCondLst>
                            <p:childTnLst>
                              <p:par>
                                <p:cTn id="4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8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9" dur="200"/>
                                        <p:tgtEl>
                                          <p:spTgt spid="3">
                                            <p:txEl>
                                              <p:pRg st="118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23800"/>
                            </p:stCondLst>
                            <p:childTnLst>
                              <p:par>
                                <p:cTn id="4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3" dur="200"/>
                                        <p:tgtEl>
                                          <p:spTgt spid="3">
                                            <p:txEl>
                                              <p:pRg st="119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9BE13-9BA9-C721-CD91-F8C4473E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559E38-CB03-7B05-2304-6DF792F36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 het einde van de les:</a:t>
            </a:r>
          </a:p>
          <a:p>
            <a:pPr lvl="1"/>
            <a:r>
              <a:rPr lang="nl-NL" dirty="0"/>
              <a:t>Weet je wat klassendiagram is</a:t>
            </a:r>
          </a:p>
          <a:p>
            <a:pPr lvl="1"/>
            <a:r>
              <a:rPr lang="nl-NL" dirty="0"/>
              <a:t>Weet je waarom je een klassendiagram gebruikt.</a:t>
            </a:r>
          </a:p>
          <a:p>
            <a:pPr lvl="1"/>
            <a:r>
              <a:rPr lang="nl-NL" dirty="0"/>
              <a:t>Weet je wat de componenten zijn van een klassendiagram</a:t>
            </a:r>
          </a:p>
          <a:p>
            <a:pPr lvl="1"/>
            <a:r>
              <a:rPr lang="nl-NL" dirty="0"/>
              <a:t>Kan je een klassendiagram maken</a:t>
            </a:r>
          </a:p>
          <a:p>
            <a:pPr lvl="1"/>
            <a:r>
              <a:rPr lang="nl-NL" dirty="0"/>
              <a:t>Kan je connecties leggen tussen klassen</a:t>
            </a:r>
          </a:p>
        </p:txBody>
      </p:sp>
    </p:spTree>
    <p:extLst>
      <p:ext uri="{BB962C8B-B14F-4D97-AF65-F5344CB8AC3E}">
        <p14:creationId xmlns:p14="http://schemas.microsoft.com/office/powerpoint/2010/main" val="2114408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F7CF5-8E7D-9969-0A84-44F070186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Klassendiagram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4EB114-B318-B48E-3039-1AAC6DE3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25625"/>
            <a:ext cx="4526405" cy="3872442"/>
          </a:xfrm>
        </p:spPr>
        <p:txBody>
          <a:bodyPr>
            <a:normAutofit/>
          </a:bodyPr>
          <a:lstStyle/>
          <a:p>
            <a:r>
              <a:rPr lang="nl-NL" dirty="0"/>
              <a:t>Een overzicht van een programma en klassen</a:t>
            </a:r>
          </a:p>
          <a:p>
            <a:r>
              <a:rPr lang="nl-NL" dirty="0"/>
              <a:t>Een blauwdruk van de backend van een applicatie</a:t>
            </a:r>
          </a:p>
          <a:p>
            <a:r>
              <a:rPr lang="nl-NL" dirty="0"/>
              <a:t>Een van 3 meest gebruikte diagrammen (ERD, klassendiagram en blok diagrammen)</a:t>
            </a:r>
          </a:p>
        </p:txBody>
      </p:sp>
      <p:pic>
        <p:nvPicPr>
          <p:cNvPr id="1026" name="Picture 2" descr="Een UML-klassediagram maken - Microsoft Ondersteuning">
            <a:extLst>
              <a:ext uri="{FF2B5EF4-FFF2-40B4-BE49-F238E27FC236}">
                <a16:creationId xmlns:a16="http://schemas.microsoft.com/office/drawing/2014/main" id="{3E8EA17E-F7BA-0DB9-80EF-A7F4C1AA4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1349" y="889246"/>
            <a:ext cx="6330600" cy="480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886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4C979D1-D9D1-214C-72F0-72586AB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Klassendiagram </a:t>
            </a:r>
            <a:r>
              <a:rPr lang="nl-NL" dirty="0" err="1"/>
              <a:t>programmas</a:t>
            </a:r>
            <a:endParaRPr lang="nl-NL" dirty="0"/>
          </a:p>
        </p:txBody>
      </p:sp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0A883D64-7E89-647F-3280-962245532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Draw.io</a:t>
            </a:r>
          </a:p>
          <a:p>
            <a:r>
              <a:rPr lang="nl-NL" dirty="0"/>
              <a:t>Visual </a:t>
            </a:r>
            <a:r>
              <a:rPr lang="nl-NL" dirty="0" err="1"/>
              <a:t>paradigm</a:t>
            </a:r>
            <a:r>
              <a:rPr lang="nl-NL" dirty="0"/>
              <a:t> (free </a:t>
            </a:r>
            <a:r>
              <a:rPr lang="nl-NL" dirty="0" err="1"/>
              <a:t>edition</a:t>
            </a:r>
            <a:r>
              <a:rPr lang="nl-NL" dirty="0"/>
              <a:t>)</a:t>
            </a:r>
          </a:p>
          <a:p>
            <a:r>
              <a:rPr lang="nl-NL" dirty="0" err="1"/>
              <a:t>Miro</a:t>
            </a:r>
            <a:endParaRPr lang="nl-NL" dirty="0"/>
          </a:p>
          <a:p>
            <a:r>
              <a:rPr lang="nl-NL" dirty="0" err="1"/>
              <a:t>Lucidchart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397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B447F9-6C9F-FB22-E2BB-DA372E98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Waarom klassendiagrammen leren?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31CC0B8-9041-C13F-D07B-365426CE8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Als programmeur krijg je een klassendiagram om te programmeren</a:t>
            </a:r>
          </a:p>
          <a:p>
            <a:r>
              <a:rPr lang="nl-NL" dirty="0"/>
              <a:t>Als ontwikkelaar maak je een klassendiagram voor de klant en je team</a:t>
            </a:r>
          </a:p>
          <a:p>
            <a:r>
              <a:rPr lang="nl-NL" dirty="0"/>
              <a:t>Het functioneert als een checklist</a:t>
            </a:r>
          </a:p>
          <a:p>
            <a:r>
              <a:rPr lang="nl-NL" dirty="0"/>
              <a:t>Het maakt een programma inzichtelijk en visueel voordat het gebouwd wordt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0139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9D27E-E6FF-31A2-0E6F-8C05EA91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Klassendiagram - Klas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88C5EDB-ECD6-9B71-257A-F07BBDD41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0914" cy="3872442"/>
          </a:xfrm>
        </p:spPr>
        <p:txBody>
          <a:bodyPr/>
          <a:lstStyle/>
          <a:p>
            <a:r>
              <a:rPr lang="nl-NL" dirty="0"/>
              <a:t>Een box met daarin de naam van de klas</a:t>
            </a:r>
          </a:p>
          <a:p>
            <a:r>
              <a:rPr lang="nl-NL" dirty="0"/>
              <a:t>In het tweede deel komen de attributen/eigenschappen</a:t>
            </a:r>
          </a:p>
          <a:p>
            <a:r>
              <a:rPr lang="nl-NL" dirty="0"/>
              <a:t>In het derde deel komen de </a:t>
            </a:r>
          </a:p>
          <a:p>
            <a:endParaRPr lang="nl-NL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65F6843F-9300-AE84-DC6C-16D9497AB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689641"/>
              </p:ext>
            </p:extLst>
          </p:nvPr>
        </p:nvGraphicFramePr>
        <p:xfrm>
          <a:off x="7093716" y="1970616"/>
          <a:ext cx="3745734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734">
                  <a:extLst>
                    <a:ext uri="{9D8B030D-6E8A-4147-A177-3AD203B41FA5}">
                      <a16:colId xmlns:a16="http://schemas.microsoft.com/office/drawing/2014/main" val="642626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Fiets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0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-merk : Merk</a:t>
                      </a:r>
                    </a:p>
                    <a:p>
                      <a:r>
                        <a:rPr lang="nl-NL" dirty="0"/>
                        <a:t>-kleur : Kleur</a:t>
                      </a:r>
                    </a:p>
                    <a:p>
                      <a:r>
                        <a:rPr lang="nl-NL" dirty="0"/>
                        <a:t>-prijs : Double</a:t>
                      </a:r>
                    </a:p>
                    <a:p>
                      <a:r>
                        <a:rPr lang="nl-NL" dirty="0"/>
                        <a:t>-</a:t>
                      </a:r>
                      <a:r>
                        <a:rPr lang="nl-NL" dirty="0" err="1"/>
                        <a:t>isVerkocht</a:t>
                      </a:r>
                      <a:r>
                        <a:rPr lang="nl-NL" dirty="0"/>
                        <a:t> : </a:t>
                      </a:r>
                      <a:r>
                        <a:rPr lang="nl-NL" dirty="0" err="1"/>
                        <a:t>Boolean</a:t>
                      </a:r>
                      <a:endParaRPr lang="nl-NL" dirty="0"/>
                    </a:p>
                    <a:p>
                      <a:r>
                        <a:rPr lang="nl-NL" dirty="0"/>
                        <a:t>-</a:t>
                      </a:r>
                      <a:r>
                        <a:rPr lang="nl-NL" dirty="0" err="1"/>
                        <a:t>laatsteOnderhoud</a:t>
                      </a:r>
                      <a:r>
                        <a:rPr lang="nl-NL" dirty="0"/>
                        <a:t> :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95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+Onderhouden() : </a:t>
                      </a:r>
                      <a:r>
                        <a:rPr lang="nl-NL" dirty="0" err="1"/>
                        <a:t>void</a:t>
                      </a:r>
                      <a:endParaRPr lang="nl-NL" dirty="0"/>
                    </a:p>
                    <a:p>
                      <a:r>
                        <a:rPr lang="nl-NL" dirty="0"/>
                        <a:t>+Verkopen(Klant koper) : </a:t>
                      </a:r>
                      <a:r>
                        <a:rPr lang="nl-NL" dirty="0" err="1"/>
                        <a:t>void</a:t>
                      </a:r>
                      <a:endParaRPr lang="nl-NL" dirty="0"/>
                    </a:p>
                    <a:p>
                      <a:r>
                        <a:rPr lang="nl-NL" dirty="0"/>
                        <a:t>+afprijzing(Double </a:t>
                      </a:r>
                      <a:r>
                        <a:rPr lang="nl-NL" dirty="0" err="1"/>
                        <a:t>niewePrijs</a:t>
                      </a:r>
                      <a:r>
                        <a:rPr lang="nl-NL" dirty="0"/>
                        <a:t>) : </a:t>
                      </a:r>
                      <a:r>
                        <a:rPr lang="nl-NL" dirty="0" err="1"/>
                        <a:t>void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876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273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B7EFCE-9A97-946B-B592-68967331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Relaties tussen klassen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F4BFE6A-D8DF-6F0C-7B50-CF9BECF0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5850" cy="3872442"/>
          </a:xfrm>
        </p:spPr>
        <p:txBody>
          <a:bodyPr>
            <a:normAutofit fontScale="85000" lnSpcReduction="20000"/>
          </a:bodyPr>
          <a:lstStyle/>
          <a:p>
            <a:r>
              <a:rPr lang="nl-NL" dirty="0"/>
              <a:t>Regulaire relaties geven aan als een klas een andere klas kan aanmaken of interactie</a:t>
            </a:r>
          </a:p>
          <a:p>
            <a:r>
              <a:rPr lang="nl-NL" dirty="0"/>
              <a:t>Overerving gebruikt de volle pijl voor een klas die overkoepelend is over andere klassen</a:t>
            </a:r>
            <a:br>
              <a:rPr lang="nl-NL" dirty="0"/>
            </a:br>
            <a:r>
              <a:rPr lang="nl-NL" dirty="0"/>
              <a:t>(meer in les 5)</a:t>
            </a:r>
          </a:p>
          <a:p>
            <a:r>
              <a:rPr lang="nl-NL" dirty="0"/>
              <a:t>Implementatie is als een </a:t>
            </a:r>
            <a:r>
              <a:rPr lang="nl-NL" dirty="0" err="1"/>
              <a:t>klasen</a:t>
            </a:r>
            <a:r>
              <a:rPr lang="nl-NL" dirty="0"/>
              <a:t> standaard methodes bevat. Dit is een stippellijn volle pijl. (meer in les 6)</a:t>
            </a:r>
          </a:p>
          <a:p>
            <a:r>
              <a:rPr lang="nl-NL" dirty="0"/>
              <a:t>Afhankelijke klassen zijn klassen die eerst gemaakt moeten worden om andere klassen te maken. </a:t>
            </a:r>
          </a:p>
        </p:txBody>
      </p:sp>
      <p:pic>
        <p:nvPicPr>
          <p:cNvPr id="1026" name="Picture 2" descr="Arrow of class diagram inheritance arrow missing · Issue #1687 ·  mermaid-js/mermaid">
            <a:extLst>
              <a:ext uri="{FF2B5EF4-FFF2-40B4-BE49-F238E27FC236}">
                <a16:creationId xmlns:a16="http://schemas.microsoft.com/office/drawing/2014/main" id="{E28319F3-6FF7-79BB-F713-E03775B67A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1" r="1609" b="33295"/>
          <a:stretch>
            <a:fillRect/>
          </a:stretch>
        </p:blipFill>
        <p:spPr bwMode="auto">
          <a:xfrm>
            <a:off x="6941200" y="2161498"/>
            <a:ext cx="5250800" cy="253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26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noProof="0" dirty="0"/>
              <a:t>Demo </a:t>
            </a:r>
            <a:r>
              <a:rPr lang="nl-NL" dirty="0" err="1"/>
              <a:t>lucidchart</a:t>
            </a:r>
            <a:r>
              <a:rPr lang="nl-NL" noProof="0" dirty="0"/>
              <a:t> – </a:t>
            </a:r>
            <a:r>
              <a:rPr lang="nl-NL" dirty="0"/>
              <a:t>Dierenasiel uitschetsen</a:t>
            </a:r>
            <a:endParaRPr lang="nl-NL" noProof="0" dirty="0"/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F4ACC896-BCAF-B98F-9D41-FB96F193A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FD6809F-A96C-570D-37DB-176C77C0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318" y="3909399"/>
            <a:ext cx="1653011" cy="1653011"/>
          </a:xfrm>
          <a:prstGeom prst="rect">
            <a:avLst/>
          </a:prstGeom>
        </p:spPr>
      </p:pic>
      <p:pic>
        <p:nvPicPr>
          <p:cNvPr id="7" name="Graphic 6" descr="Fruitschaal met effen opvulling">
            <a:extLst>
              <a:ext uri="{FF2B5EF4-FFF2-40B4-BE49-F238E27FC236}">
                <a16:creationId xmlns:a16="http://schemas.microsoft.com/office/drawing/2014/main" id="{A58B89E1-3AA5-DF70-00F2-2D6B1A988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918" y="5036545"/>
            <a:ext cx="613734" cy="613734"/>
          </a:xfrm>
          <a:prstGeom prst="rect">
            <a:avLst/>
          </a:prstGeom>
        </p:spPr>
      </p:pic>
      <p:pic>
        <p:nvPicPr>
          <p:cNvPr id="10" name="Graphic 9" descr="Mais met effen opvulling">
            <a:extLst>
              <a:ext uri="{FF2B5EF4-FFF2-40B4-BE49-F238E27FC236}">
                <a16:creationId xmlns:a16="http://schemas.microsoft.com/office/drawing/2014/main" id="{E1A8A7E2-E2B4-A8FC-A862-8227394EC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6925" y="4429036"/>
            <a:ext cx="613735" cy="613735"/>
          </a:xfrm>
          <a:prstGeom prst="rect">
            <a:avLst/>
          </a:prstGeom>
        </p:spPr>
      </p:pic>
      <p:pic>
        <p:nvPicPr>
          <p:cNvPr id="12" name="Graphic 11" descr="Kippenbout met effen opvulling">
            <a:extLst>
              <a:ext uri="{FF2B5EF4-FFF2-40B4-BE49-F238E27FC236}">
                <a16:creationId xmlns:a16="http://schemas.microsoft.com/office/drawing/2014/main" id="{B62B8B21-6DC4-B921-7EE3-F23020099E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10365" y="4422811"/>
            <a:ext cx="613734" cy="613734"/>
          </a:xfrm>
          <a:prstGeom prst="rect">
            <a:avLst/>
          </a:prstGeom>
        </p:spPr>
      </p:pic>
      <p:pic>
        <p:nvPicPr>
          <p:cNvPr id="14" name="Graphic 13" descr="Vis met effen opvulling">
            <a:extLst>
              <a:ext uri="{FF2B5EF4-FFF2-40B4-BE49-F238E27FC236}">
                <a16:creationId xmlns:a16="http://schemas.microsoft.com/office/drawing/2014/main" id="{D3FDBAB8-2161-139E-8EBE-0044D1C9C4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0365" y="5090023"/>
            <a:ext cx="613734" cy="613734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CEE6FC76-697D-B916-27A0-13587E4DBD0F}"/>
              </a:ext>
            </a:extLst>
          </p:cNvPr>
          <p:cNvSpPr txBox="1"/>
          <p:nvPr/>
        </p:nvSpPr>
        <p:spPr>
          <a:xfrm>
            <a:off x="607102" y="4279692"/>
            <a:ext cx="1653011" cy="1566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EC1593FF-AD50-381C-02A8-4E5944E375E9}"/>
              </a:ext>
            </a:extLst>
          </p:cNvPr>
          <p:cNvSpPr txBox="1"/>
          <p:nvPr/>
        </p:nvSpPr>
        <p:spPr>
          <a:xfrm>
            <a:off x="9527186" y="3995938"/>
            <a:ext cx="1653011" cy="1566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  <p:pic>
        <p:nvPicPr>
          <p:cNvPr id="18" name="Graphic 17" descr="Groep met effen opvulling">
            <a:extLst>
              <a:ext uri="{FF2B5EF4-FFF2-40B4-BE49-F238E27FC236}">
                <a16:creationId xmlns:a16="http://schemas.microsoft.com/office/drawing/2014/main" id="{94CB820E-051C-784C-09BB-63C2BD1E5E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57594" y="623923"/>
            <a:ext cx="1580458" cy="1580458"/>
          </a:xfrm>
          <a:prstGeom prst="rect">
            <a:avLst/>
          </a:prstGeom>
        </p:spPr>
      </p:pic>
      <p:sp>
        <p:nvSpPr>
          <p:cNvPr id="19" name="Tekstvak 18">
            <a:extLst>
              <a:ext uri="{FF2B5EF4-FFF2-40B4-BE49-F238E27FC236}">
                <a16:creationId xmlns:a16="http://schemas.microsoft.com/office/drawing/2014/main" id="{EE1C8FE6-2E62-E9D5-F4E9-B3B85083EC2F}"/>
              </a:ext>
            </a:extLst>
          </p:cNvPr>
          <p:cNvSpPr txBox="1"/>
          <p:nvPr/>
        </p:nvSpPr>
        <p:spPr>
          <a:xfrm>
            <a:off x="9433046" y="637909"/>
            <a:ext cx="1653011" cy="1566472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E4EFD7-6540-115E-779E-2540AE4C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 – maak een klassendiagram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6583083-241E-B364-8A24-28A72D29A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Dummy meneer-&gt;OOP-&gt;Opdrachten-&gt;Opdracht week 4</a:t>
            </a:r>
          </a:p>
          <a:p>
            <a:r>
              <a:rPr lang="nl-NL" dirty="0"/>
              <a:t>Maak van de casus-beschrijving een klassendiagram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Denk na over wat dit systeem nodig heeft:</a:t>
            </a:r>
          </a:p>
          <a:p>
            <a:pPr lvl="1"/>
            <a:r>
              <a:rPr lang="nl-NL" dirty="0"/>
              <a:t>Objecten</a:t>
            </a:r>
          </a:p>
          <a:p>
            <a:pPr lvl="1"/>
            <a:r>
              <a:rPr lang="nl-NL" dirty="0"/>
              <a:t>Methodes </a:t>
            </a:r>
          </a:p>
          <a:p>
            <a:pPr lvl="1"/>
            <a:r>
              <a:rPr lang="nl-NL" dirty="0"/>
              <a:t>Attributen</a:t>
            </a:r>
          </a:p>
          <a:p>
            <a:pPr lvl="1"/>
            <a:r>
              <a:rPr lang="nl-NL" dirty="0"/>
              <a:t>Relaties</a:t>
            </a:r>
          </a:p>
          <a:p>
            <a:pPr lvl="2"/>
            <a:r>
              <a:rPr lang="nl-NL" dirty="0"/>
              <a:t>Wat is nodig voor de klas</a:t>
            </a:r>
          </a:p>
          <a:p>
            <a:pPr lvl="2"/>
            <a:r>
              <a:rPr lang="nl-NL" dirty="0"/>
              <a:t>Welke klassen zijn afhankelijk van elkaar</a:t>
            </a:r>
          </a:p>
        </p:txBody>
      </p:sp>
    </p:spTree>
    <p:extLst>
      <p:ext uri="{BB962C8B-B14F-4D97-AF65-F5344CB8AC3E}">
        <p14:creationId xmlns:p14="http://schemas.microsoft.com/office/powerpoint/2010/main" val="1205254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49B18-B7FF-594D-C870-B782C91B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Eigen opdracht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EACF70-1E5E-D8CF-3987-15261AB64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Voor de rest van de les ga of voor je eigen OOP opdracht of voor de groepsopdracht het klassendiagram maken van wat jullie gaan maken.</a:t>
            </a:r>
          </a:p>
        </p:txBody>
      </p:sp>
    </p:spTree>
    <p:extLst>
      <p:ext uri="{BB962C8B-B14F-4D97-AF65-F5344CB8AC3E}">
        <p14:creationId xmlns:p14="http://schemas.microsoft.com/office/powerpoint/2010/main" val="3924651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O</a:t>
            </a:r>
            <a:r>
              <a:rPr lang="nl-NL" noProof="0"/>
              <a:t>vererving</a:t>
            </a:r>
            <a:endParaRPr lang="nl-NL" noProof="0" dirty="0"/>
          </a:p>
          <a:p>
            <a:endParaRPr lang="nl-NL" noProof="0" dirty="0"/>
          </a:p>
        </p:txBody>
      </p:sp>
      <p:pic>
        <p:nvPicPr>
          <p:cNvPr id="2050" name="Picture 2" descr="What is Inheritance? - GeeksforGeeks">
            <a:extLst>
              <a:ext uri="{FF2B5EF4-FFF2-40B4-BE49-F238E27FC236}">
                <a16:creationId xmlns:a16="http://schemas.microsoft.com/office/drawing/2014/main" id="{1D733877-CBBC-845E-DA73-84510F406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230" y="3429000"/>
            <a:ext cx="5028420" cy="218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heritance : r/ProgrammerHumor">
            <a:extLst>
              <a:ext uri="{FF2B5EF4-FFF2-40B4-BE49-F238E27FC236}">
                <a16:creationId xmlns:a16="http://schemas.microsoft.com/office/drawing/2014/main" id="{E11E2BC5-B7BA-2FE4-AFFA-F13A86710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584" y="365124"/>
            <a:ext cx="2973804" cy="455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1541</Words>
  <Application>Microsoft Office PowerPoint</Application>
  <PresentationFormat>Breedbeeld</PresentationFormat>
  <Paragraphs>207</Paragraphs>
  <Slides>14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Kantoorthema</vt:lpstr>
      <vt:lpstr>OOP – Les 4</vt:lpstr>
      <vt:lpstr>Programma</vt:lpstr>
      <vt:lpstr>Vorige week</vt:lpstr>
      <vt:lpstr>Fietsenwinkel met 15 fietsen, welke is beter?</vt:lpstr>
      <vt:lpstr>Leerdoelen</vt:lpstr>
      <vt:lpstr>Klassendiagram</vt:lpstr>
      <vt:lpstr>Klassendiagram programmas</vt:lpstr>
      <vt:lpstr>Waarom klassendiagrammen leren?</vt:lpstr>
      <vt:lpstr>Klassendiagram - Klas</vt:lpstr>
      <vt:lpstr>Relaties tussen klassen</vt:lpstr>
      <vt:lpstr>Demo lucidchart – Dierenasiel uitschetsen</vt:lpstr>
      <vt:lpstr>Opdracht – maak een klassendiagram</vt:lpstr>
      <vt:lpstr>Eigen opdracht</vt:lpstr>
      <vt:lpstr>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29</cp:revision>
  <dcterms:created xsi:type="dcterms:W3CDTF">2026-02-09T20:08:51Z</dcterms:created>
  <dcterms:modified xsi:type="dcterms:W3CDTF">2026-03-03T09:04:26Z</dcterms:modified>
</cp:coreProperties>
</file>