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7" r:id="rId13"/>
    <p:sldId id="276" r:id="rId14"/>
    <p:sldId id="275" r:id="rId15"/>
    <p:sldId id="272" r:id="rId16"/>
    <p:sldId id="274" r:id="rId17"/>
    <p:sldId id="271" r:id="rId18"/>
    <p:sldId id="279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81" autoAdjust="0"/>
  </p:normalViewPr>
  <p:slideViewPr>
    <p:cSldViewPr snapToGrid="0">
      <p:cViewPr varScale="1">
        <p:scale>
          <a:sx n="104" d="100"/>
          <a:sy n="104" d="100"/>
        </p:scale>
        <p:origin x="216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2-2-2026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OOP – Les 1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Introductie, toetsing, </a:t>
            </a:r>
            <a:r>
              <a:rPr lang="nl-NL" dirty="0" err="1"/>
              <a:t>klasses</a:t>
            </a:r>
            <a:r>
              <a:rPr lang="nl-NL" dirty="0"/>
              <a:t> en objecten</a:t>
            </a:r>
          </a:p>
        </p:txBody>
      </p:sp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110306-4AAB-9607-E18E-ACBAC34B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  <a:p>
            <a:r>
              <a:rPr lang="nl-NL" dirty="0"/>
              <a:t>Toetsing</a:t>
            </a:r>
          </a:p>
          <a:p>
            <a:r>
              <a:rPr lang="nl-NL" dirty="0"/>
              <a:t>Lessenopbouw</a:t>
            </a:r>
          </a:p>
          <a:p>
            <a:r>
              <a:rPr lang="nl-NL" dirty="0" err="1"/>
              <a:t>Klasses</a:t>
            </a:r>
            <a:r>
              <a:rPr lang="nl-NL" dirty="0"/>
              <a:t> &amp; Objecten</a:t>
            </a:r>
          </a:p>
          <a:p>
            <a:r>
              <a:rPr lang="nl-NL" dirty="0"/>
              <a:t>Opdrachten</a:t>
            </a:r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Introductie - OOP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Object georiënteerd programmeren oftewel OOP</a:t>
            </a:r>
          </a:p>
        </p:txBody>
      </p:sp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3597B8-6F54-B062-D9A5-5648086CB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Waarom OOP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924C0E1-618C-E677-9DA4-9B0585AE3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827" y="1395964"/>
            <a:ext cx="4418578" cy="2685083"/>
          </a:xfrm>
        </p:spPr>
        <p:txBody>
          <a:bodyPr/>
          <a:lstStyle/>
          <a:p>
            <a:r>
              <a:rPr lang="nl-NL" dirty="0"/>
              <a:t>Van spaghetti naar structuur</a:t>
            </a:r>
          </a:p>
          <a:p>
            <a:r>
              <a:rPr lang="nl-NL" dirty="0" err="1"/>
              <a:t>Schaalbaarder</a:t>
            </a:r>
            <a:endParaRPr lang="nl-NL" dirty="0"/>
          </a:p>
          <a:p>
            <a:r>
              <a:rPr lang="nl-NL" dirty="0" err="1"/>
              <a:t>Onderhoudbaarder</a:t>
            </a:r>
            <a:endParaRPr lang="nl-NL" dirty="0"/>
          </a:p>
          <a:p>
            <a:r>
              <a:rPr lang="nl-NL" dirty="0"/>
              <a:t>Overdraagbaar</a:t>
            </a:r>
          </a:p>
          <a:p>
            <a:endParaRPr lang="nl-NL" dirty="0"/>
          </a:p>
        </p:txBody>
      </p:sp>
      <p:pic>
        <p:nvPicPr>
          <p:cNvPr id="1026" name="Picture 2" descr="Spaghetti Code: How to Avoid Getting Lost in the Sauce">
            <a:extLst>
              <a:ext uri="{FF2B5EF4-FFF2-40B4-BE49-F238E27FC236}">
                <a16:creationId xmlns:a16="http://schemas.microsoft.com/office/drawing/2014/main" id="{D283820E-46EE-4318-BE3B-5FA234062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8" r="16237"/>
          <a:stretch>
            <a:fillRect/>
          </a:stretch>
        </p:blipFill>
        <p:spPr bwMode="auto">
          <a:xfrm>
            <a:off x="503226" y="2542044"/>
            <a:ext cx="3495995" cy="338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organize your code? | Kislay Verma">
            <a:extLst>
              <a:ext uri="{FF2B5EF4-FFF2-40B4-BE49-F238E27FC236}">
                <a16:creationId xmlns:a16="http://schemas.microsoft.com/office/drawing/2014/main" id="{40532DFA-07D5-2FB7-D778-94EB649AB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536" y="1395964"/>
            <a:ext cx="3170555" cy="453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jl: rechts 3">
            <a:extLst>
              <a:ext uri="{FF2B5EF4-FFF2-40B4-BE49-F238E27FC236}">
                <a16:creationId xmlns:a16="http://schemas.microsoft.com/office/drawing/2014/main" id="{61654434-40BE-7E91-552C-8E8707CBD73C}"/>
              </a:ext>
            </a:extLst>
          </p:cNvPr>
          <p:cNvSpPr/>
          <p:nvPr/>
        </p:nvSpPr>
        <p:spPr>
          <a:xfrm>
            <a:off x="4792929" y="4203785"/>
            <a:ext cx="3037772" cy="1153740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0399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69F356-1D9E-69F1-974A-6D40A916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Toetsing – 2 </a:t>
            </a:r>
            <a:r>
              <a:rPr lang="nl-NL" dirty="0" err="1"/>
              <a:t>delig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4D47B2E-6658-3588-DBB2-B48926D37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Individueel: alle afsluitende opdrachten afgerond van de lessen</a:t>
            </a:r>
          </a:p>
          <a:p>
            <a:r>
              <a:rPr lang="nl-NL" dirty="0"/>
              <a:t>Deze laat je aftekenen</a:t>
            </a:r>
          </a:p>
          <a:p>
            <a:endParaRPr lang="nl-NL" dirty="0"/>
          </a:p>
          <a:p>
            <a:r>
              <a:rPr lang="nl-NL" dirty="0"/>
              <a:t>Groepsopdracht: </a:t>
            </a:r>
          </a:p>
          <a:p>
            <a:r>
              <a:rPr lang="nl-NL" dirty="0"/>
              <a:t>Groepjes van 2 a 3 personen, gebruik maken van de beschikbare </a:t>
            </a:r>
            <a:r>
              <a:rPr lang="nl-NL" dirty="0" err="1"/>
              <a:t>use</a:t>
            </a:r>
            <a:r>
              <a:rPr lang="nl-NL" dirty="0"/>
              <a:t> cases/casus.</a:t>
            </a:r>
          </a:p>
          <a:p>
            <a:r>
              <a:rPr lang="nl-NL" dirty="0"/>
              <a:t>Mag een eigen casus zijn maar wel besproken met de docent.</a:t>
            </a:r>
          </a:p>
          <a:p>
            <a:r>
              <a:rPr lang="nl-NL" dirty="0"/>
              <a:t>Criteria lijst komt binnenkort online.</a:t>
            </a:r>
          </a:p>
        </p:txBody>
      </p:sp>
    </p:spTree>
    <p:extLst>
      <p:ext uri="{BB962C8B-B14F-4D97-AF65-F5344CB8AC3E}">
        <p14:creationId xmlns:p14="http://schemas.microsoft.com/office/powerpoint/2010/main" val="301024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972E75-9066-F887-51E7-48A9D595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Lessenopbouw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79CCDC-4AB3-9635-18EA-A6EB20679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</a:t>
            </a:r>
          </a:p>
          <a:p>
            <a:r>
              <a:rPr lang="nl-NL" dirty="0"/>
              <a:t>Theorie</a:t>
            </a:r>
          </a:p>
          <a:p>
            <a:r>
              <a:rPr lang="nl-NL" dirty="0"/>
              <a:t>Tussenopdracht/Demo</a:t>
            </a:r>
          </a:p>
          <a:p>
            <a:r>
              <a:rPr lang="nl-NL" dirty="0"/>
              <a:t>Vervolg theorie</a:t>
            </a:r>
          </a:p>
          <a:p>
            <a:r>
              <a:rPr lang="nl-NL" dirty="0"/>
              <a:t>Zelfstudie programmeeropdracht of groepsopdracht</a:t>
            </a:r>
          </a:p>
          <a:p>
            <a:r>
              <a:rPr lang="nl-NL" dirty="0"/>
              <a:t>Afsluiting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0448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D2B149-F260-11A5-8EB6-AD504A46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EDB6E26-FE42-AE8E-551B-385444773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 het einde van de les</a:t>
            </a:r>
          </a:p>
          <a:p>
            <a:pPr lvl="1"/>
            <a:r>
              <a:rPr lang="nl-NL" dirty="0"/>
              <a:t>Weten we wat OOP inhoudt</a:t>
            </a:r>
          </a:p>
          <a:p>
            <a:pPr lvl="1"/>
            <a:r>
              <a:rPr lang="nl-NL" dirty="0"/>
              <a:t>Weten we het verschil tussen Klassen en Objecten</a:t>
            </a:r>
          </a:p>
          <a:p>
            <a:pPr lvl="1"/>
            <a:r>
              <a:rPr lang="nl-NL" dirty="0"/>
              <a:t>Weten we hoe we klassen maken</a:t>
            </a:r>
          </a:p>
          <a:p>
            <a:pPr lvl="1"/>
            <a:r>
              <a:rPr lang="nl-NL" dirty="0"/>
              <a:t>Weten we hoe we objecten maken</a:t>
            </a:r>
          </a:p>
        </p:txBody>
      </p:sp>
    </p:spTree>
    <p:extLst>
      <p:ext uri="{BB962C8B-B14F-4D97-AF65-F5344CB8AC3E}">
        <p14:creationId xmlns:p14="http://schemas.microsoft.com/office/powerpoint/2010/main" val="219118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E81F6-6B45-B445-46BF-9A1AD488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Klassen en Objecten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6392B2A-7FEF-C08F-D8FF-FE762EA54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899"/>
            <a:ext cx="10515600" cy="3872442"/>
          </a:xfrm>
        </p:spPr>
        <p:txBody>
          <a:bodyPr/>
          <a:lstStyle/>
          <a:p>
            <a:r>
              <a:rPr lang="nl-NL" dirty="0"/>
              <a:t>Wat is wat?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662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94A3E06-D901-151E-1A8C-5AA1F57EB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Klassen en Objecten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E683548-CC60-4D6C-AB35-CC9EF6028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Klass</a:t>
            </a:r>
            <a:endParaRPr lang="nl-NL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ECD255B-C1BC-4803-DD18-52D222A04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6"/>
            <a:ext cx="5157787" cy="2254284"/>
          </a:xfrm>
        </p:spPr>
        <p:txBody>
          <a:bodyPr>
            <a:normAutofit fontScale="92500" lnSpcReduction="20000"/>
          </a:bodyPr>
          <a:lstStyle/>
          <a:p>
            <a:r>
              <a:rPr lang="nl-NL" dirty="0"/>
              <a:t>Een </a:t>
            </a:r>
            <a:r>
              <a:rPr lang="nl-NL" dirty="0" err="1"/>
              <a:t>klass</a:t>
            </a:r>
            <a:r>
              <a:rPr lang="nl-NL" dirty="0"/>
              <a:t> is een abstracte vorm van een object. </a:t>
            </a:r>
          </a:p>
          <a:p>
            <a:r>
              <a:rPr lang="nl-NL" dirty="0"/>
              <a:t>Een </a:t>
            </a:r>
            <a:r>
              <a:rPr lang="nl-NL" dirty="0" err="1"/>
              <a:t>klass</a:t>
            </a:r>
            <a:r>
              <a:rPr lang="nl-NL" dirty="0"/>
              <a:t> is overkoepelend en stabiel</a:t>
            </a:r>
          </a:p>
          <a:p>
            <a:endParaRPr lang="nl-NL" dirty="0"/>
          </a:p>
          <a:p>
            <a:r>
              <a:rPr lang="nl-NL" dirty="0"/>
              <a:t>Kat is een </a:t>
            </a:r>
            <a:r>
              <a:rPr lang="nl-NL" dirty="0" err="1"/>
              <a:t>klass</a:t>
            </a:r>
            <a:endParaRPr lang="nl-NL" dirty="0"/>
          </a:p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0A3D81C-AA1A-95C6-CDC6-4E3923D03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Object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16A0A6C0-805A-8EB3-6FAE-4A8DBF89FDA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dirty="0"/>
              <a:t>Een object is een specifieke instantie van een </a:t>
            </a:r>
            <a:r>
              <a:rPr lang="nl-NL" dirty="0" err="1"/>
              <a:t>Klass</a:t>
            </a:r>
            <a:r>
              <a:rPr lang="nl-NL" dirty="0"/>
              <a:t>.</a:t>
            </a:r>
          </a:p>
          <a:p>
            <a:r>
              <a:rPr lang="nl-NL" dirty="0"/>
              <a:t>Een object is manipuleerbaar</a:t>
            </a:r>
          </a:p>
          <a:p>
            <a:endParaRPr lang="nl-NL" dirty="0"/>
          </a:p>
          <a:p>
            <a:r>
              <a:rPr lang="nl-NL" dirty="0"/>
              <a:t>Garfield is een object van het type Kat.</a:t>
            </a:r>
          </a:p>
        </p:txBody>
      </p:sp>
      <p:pic>
        <p:nvPicPr>
          <p:cNvPr id="2050" name="Picture 2" descr="Wetenswaardigheden over de kat - MAX Vandaag">
            <a:extLst>
              <a:ext uri="{FF2B5EF4-FFF2-40B4-BE49-F238E27FC236}">
                <a16:creationId xmlns:a16="http://schemas.microsoft.com/office/drawing/2014/main" id="{327A3D1F-39AF-DBA5-2F0F-FE9F8142F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26" y="4435318"/>
            <a:ext cx="4089102" cy="148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A7C50EB6-ACA8-C33B-AB89-DBE4CC28A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037" y="3661746"/>
            <a:ext cx="2066350" cy="252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54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94824-4ECB-C94F-F59F-79CCE907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Blitz</a:t>
            </a:r>
            <a:r>
              <a:rPr lang="nl-NL" dirty="0"/>
              <a:t> ronde – </a:t>
            </a:r>
            <a:r>
              <a:rPr lang="nl-NL" dirty="0" err="1"/>
              <a:t>Klass</a:t>
            </a:r>
            <a:r>
              <a:rPr lang="nl-NL" dirty="0"/>
              <a:t> of Object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C69A015-86E3-7680-EBB0-D29D5F430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4000" dirty="0"/>
              <a:t>Meubels</a:t>
            </a:r>
          </a:p>
        </p:txBody>
      </p:sp>
      <p:pic>
        <p:nvPicPr>
          <p:cNvPr id="3074" name="Picture 2" descr="Woonkamerset Staphorst">
            <a:extLst>
              <a:ext uri="{FF2B5EF4-FFF2-40B4-BE49-F238E27FC236}">
                <a16:creationId xmlns:a16="http://schemas.microsoft.com/office/drawing/2014/main" id="{68F971C8-D999-7BE1-2307-8897BBBDE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39" y="2326201"/>
            <a:ext cx="5533123" cy="354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423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5B3B-24B5-9CBF-9F1E-CDC136A01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A9ED5A-7493-C5D8-DFE5-A3C11A5D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Blitz</a:t>
            </a:r>
            <a:r>
              <a:rPr lang="nl-NL" dirty="0"/>
              <a:t> ronde - </a:t>
            </a:r>
            <a:r>
              <a:rPr lang="nl-NL" dirty="0" err="1"/>
              <a:t>Klass</a:t>
            </a:r>
            <a:r>
              <a:rPr lang="nl-NL" dirty="0"/>
              <a:t> of Object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502683-B038-F782-62ED-2CB6934C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4400" dirty="0"/>
              <a:t>Flessen</a:t>
            </a:r>
          </a:p>
        </p:txBody>
      </p:sp>
      <p:pic>
        <p:nvPicPr>
          <p:cNvPr id="4098" name="Picture 2" descr="Kleurrijke glazen flessen met beugelsluiting, 1 l, set van 6 stuks, rood,  blauw, oranje, groen, geel, paars : Amazon.nl: Wonen &amp; keuken">
            <a:extLst>
              <a:ext uri="{FF2B5EF4-FFF2-40B4-BE49-F238E27FC236}">
                <a16:creationId xmlns:a16="http://schemas.microsoft.com/office/drawing/2014/main" id="{B67CBD85-FFCE-9D63-F9FC-1B0A19079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724" y="2649631"/>
            <a:ext cx="5756553" cy="318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062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FCBC-71B4-E9DA-86A7-8E7DC00E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5A4A86-67AA-A44D-FD54-8D8B88284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Blitz</a:t>
            </a:r>
            <a:r>
              <a:rPr lang="nl-NL" dirty="0"/>
              <a:t> ronde - </a:t>
            </a:r>
            <a:r>
              <a:rPr lang="nl-NL" dirty="0" err="1"/>
              <a:t>Klass</a:t>
            </a:r>
            <a:r>
              <a:rPr lang="nl-NL" dirty="0"/>
              <a:t> of Object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1E5819-7EE5-E7F8-050B-BAB4B60E7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4800" dirty="0" err="1"/>
              <a:t>MatPat</a:t>
            </a:r>
            <a:endParaRPr lang="nl-NL" sz="4800" dirty="0"/>
          </a:p>
        </p:txBody>
      </p:sp>
      <p:pic>
        <p:nvPicPr>
          <p:cNvPr id="5122" name="Picture 2" descr="MatPat (Creator) - TV Tropes">
            <a:extLst>
              <a:ext uri="{FF2B5EF4-FFF2-40B4-BE49-F238E27FC236}">
                <a16:creationId xmlns:a16="http://schemas.microsoft.com/office/drawing/2014/main" id="{80D975BA-68E0-9917-2EB7-171579B10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15" y="2496189"/>
            <a:ext cx="228996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050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27B7D-4642-EF45-1964-CBC93E48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E2AAA4-A488-E9F6-BB65-81646AD9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Blitz</a:t>
            </a:r>
            <a:r>
              <a:rPr lang="nl-NL" dirty="0"/>
              <a:t> ronde - </a:t>
            </a:r>
            <a:r>
              <a:rPr lang="nl-NL" dirty="0" err="1"/>
              <a:t>Klass</a:t>
            </a:r>
            <a:r>
              <a:rPr lang="nl-NL" dirty="0"/>
              <a:t> of Object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2C5947-A695-9E52-A681-27D2ABBC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4000" dirty="0"/>
              <a:t>Mensen</a:t>
            </a:r>
          </a:p>
        </p:txBody>
      </p:sp>
      <p:pic>
        <p:nvPicPr>
          <p:cNvPr id="6146" name="Picture 2" descr="Groep mensen Afbeeldingen - Gratis downloaden op Freepik">
            <a:extLst>
              <a:ext uri="{FF2B5EF4-FFF2-40B4-BE49-F238E27FC236}">
                <a16:creationId xmlns:a16="http://schemas.microsoft.com/office/drawing/2014/main" id="{D9A918A4-7858-7360-A428-7CE5EAE93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079" y="2658463"/>
            <a:ext cx="4905843" cy="32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388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0750-D5B6-B993-2992-DF169943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279CB-0C9B-8B65-21C6-F93D927F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Blitz</a:t>
            </a:r>
            <a:r>
              <a:rPr lang="nl-NL" dirty="0"/>
              <a:t> ronde - </a:t>
            </a:r>
            <a:r>
              <a:rPr lang="nl-NL" dirty="0" err="1"/>
              <a:t>Klass</a:t>
            </a:r>
            <a:r>
              <a:rPr lang="nl-NL" dirty="0"/>
              <a:t> of Object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6C89AF8-050E-16B4-7D5E-119071BFC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4400" dirty="0"/>
              <a:t>Zeus</a:t>
            </a:r>
          </a:p>
        </p:txBody>
      </p:sp>
      <p:pic>
        <p:nvPicPr>
          <p:cNvPr id="7170" name="Picture 2" descr="The Rocky Relationship of Zeus and Hera">
            <a:extLst>
              <a:ext uri="{FF2B5EF4-FFF2-40B4-BE49-F238E27FC236}">
                <a16:creationId xmlns:a16="http://schemas.microsoft.com/office/drawing/2014/main" id="{9B641FAE-827B-AEFA-733F-E9AE77B22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369" y="1863408"/>
            <a:ext cx="4517263" cy="404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395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72954-8B34-6449-55CD-4E1948BF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12E379-C48F-97C0-769C-5A361E9B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Blitz</a:t>
            </a:r>
            <a:r>
              <a:rPr lang="nl-NL" dirty="0"/>
              <a:t> ronde - </a:t>
            </a:r>
            <a:r>
              <a:rPr lang="nl-NL" dirty="0" err="1"/>
              <a:t>Klass</a:t>
            </a:r>
            <a:r>
              <a:rPr lang="nl-NL" dirty="0"/>
              <a:t> of Object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A068041-7B42-4415-3EFA-7858BFB97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4000" dirty="0"/>
              <a:t>Games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8379804-B1DE-06A5-B3F7-8C1AB7E43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843" y="2040217"/>
            <a:ext cx="6070314" cy="387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18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440B-1A5D-7624-96DB-02CB0DC1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07F14-0B91-70CA-CEF7-ED25A67D2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Blitz</a:t>
            </a:r>
            <a:r>
              <a:rPr lang="nl-NL" dirty="0"/>
              <a:t> ronde - </a:t>
            </a:r>
            <a:r>
              <a:rPr lang="nl-NL" dirty="0" err="1"/>
              <a:t>Klass</a:t>
            </a:r>
            <a:r>
              <a:rPr lang="nl-NL" dirty="0"/>
              <a:t> of Object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A62BFCF-39F0-D177-D018-D87D1EA37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172"/>
            <a:ext cx="10515600" cy="3872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4000" dirty="0"/>
              <a:t>Mickey mouse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10620D5-6DB7-B16D-1DFE-FA1ED2588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810" y="1972507"/>
            <a:ext cx="3950381" cy="395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15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AA84CB-C1DB-B240-4DDC-F42217E0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 in C#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6D56AC-4483-BCEF-9E43-25A2F005B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Dieren Asiel applicatie</a:t>
            </a:r>
          </a:p>
        </p:txBody>
      </p:sp>
    </p:spTree>
    <p:extLst>
      <p:ext uri="{BB962C8B-B14F-4D97-AF65-F5344CB8AC3E}">
        <p14:creationId xmlns:p14="http://schemas.microsoft.com/office/powerpoint/2010/main" val="4165700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345B54-E987-E91B-EDBE-39E92AB9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0DD8A11-D08C-9F21-1A98-BC7D34483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dirty="0"/>
              <a:t>Maak een project aan in Visual studio 2022 of hoger</a:t>
            </a:r>
          </a:p>
          <a:p>
            <a:r>
              <a:rPr lang="nl-NL" dirty="0"/>
              <a:t>Een console applicatie in C# voor .net 8 of 9</a:t>
            </a:r>
          </a:p>
          <a:p>
            <a:endParaRPr lang="nl-NL" dirty="0"/>
          </a:p>
          <a:p>
            <a:r>
              <a:rPr lang="nl-NL" dirty="0"/>
              <a:t>Maak de </a:t>
            </a:r>
            <a:r>
              <a:rPr lang="nl-NL" dirty="0" err="1"/>
              <a:t>klasses</a:t>
            </a:r>
            <a:r>
              <a:rPr lang="nl-NL" dirty="0"/>
              <a:t> aan voor de volgende casus: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Een snackbar heeft 3 soorten items op het menu, Snacks, sausjes en drinken. Deze snackbar heeft ook medewerkers en klanten.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Maak daarna een frikandel, mayonaise, </a:t>
            </a:r>
            <a:r>
              <a:rPr lang="nl-NL" dirty="0" err="1"/>
              <a:t>freek</a:t>
            </a:r>
            <a:r>
              <a:rPr lang="nl-NL" dirty="0"/>
              <a:t> de klant, jan de medewerker en een milkshake vanille als object aan.</a:t>
            </a:r>
          </a:p>
        </p:txBody>
      </p:sp>
    </p:spTree>
    <p:extLst>
      <p:ext uri="{BB962C8B-B14F-4D97-AF65-F5344CB8AC3E}">
        <p14:creationId xmlns:p14="http://schemas.microsoft.com/office/powerpoint/2010/main" val="1543476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84F29-05E1-829D-C041-4F388C28A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E599FDB-E83E-E045-015E-325CD9E6A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Eigenschappen/attributen</a:t>
            </a:r>
          </a:p>
          <a:p>
            <a:r>
              <a:rPr lang="nl-NL" dirty="0"/>
              <a:t>Methodes</a:t>
            </a:r>
          </a:p>
          <a:p>
            <a:r>
              <a:rPr lang="nl-NL" dirty="0" err="1"/>
              <a:t>Enums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020282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332</Words>
  <Application>Microsoft Office PowerPoint</Application>
  <PresentationFormat>Breedbeeld</PresentationFormat>
  <Paragraphs>78</Paragraphs>
  <Slides>19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Kantoorthema</vt:lpstr>
      <vt:lpstr>OOP – Les 1</vt:lpstr>
      <vt:lpstr>Programma</vt:lpstr>
      <vt:lpstr>Introductie - OOP</vt:lpstr>
      <vt:lpstr>Waarom OOP</vt:lpstr>
      <vt:lpstr>Toetsing – 2 delig</vt:lpstr>
      <vt:lpstr>Lessenopbouw</vt:lpstr>
      <vt:lpstr>Leerdoelen</vt:lpstr>
      <vt:lpstr>Klassen en Objecten</vt:lpstr>
      <vt:lpstr>Klassen en Objecten</vt:lpstr>
      <vt:lpstr>Blitz ronde – Klass of Object</vt:lpstr>
      <vt:lpstr>Blitz ronde - Klass of Object</vt:lpstr>
      <vt:lpstr>Blitz ronde - Klass of Object</vt:lpstr>
      <vt:lpstr>Blitz ronde - Klass of Object</vt:lpstr>
      <vt:lpstr>Blitz ronde - Klass of Object</vt:lpstr>
      <vt:lpstr>Blitz ronde - Klass of Object</vt:lpstr>
      <vt:lpstr>Blitz ronde - Klass of Object</vt:lpstr>
      <vt:lpstr>Demo in C#</vt:lpstr>
      <vt:lpstr>Opdrachten</vt:lpstr>
      <vt:lpstr>Volgende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6</cp:revision>
  <dcterms:created xsi:type="dcterms:W3CDTF">2026-02-02T17:12:25Z</dcterms:created>
  <dcterms:modified xsi:type="dcterms:W3CDTF">2026-02-02T23:54:34Z</dcterms:modified>
</cp:coreProperties>
</file>