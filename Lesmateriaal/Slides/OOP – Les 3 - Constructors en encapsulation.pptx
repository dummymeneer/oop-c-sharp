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0" r:id="rId4"/>
    <p:sldId id="285" r:id="rId5"/>
    <p:sldId id="281" r:id="rId6"/>
    <p:sldId id="282" r:id="rId7"/>
    <p:sldId id="273" r:id="rId8"/>
    <p:sldId id="257" r:id="rId9"/>
    <p:sldId id="283" r:id="rId10"/>
    <p:sldId id="276" r:id="rId11"/>
    <p:sldId id="275" r:id="rId12"/>
    <p:sldId id="277" r:id="rId13"/>
    <p:sldId id="278" r:id="rId14"/>
    <p:sldId id="280" r:id="rId15"/>
    <p:sldId id="265" r:id="rId16"/>
    <p:sldId id="284" r:id="rId17"/>
    <p:sldId id="25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77"/>
    <a:srgbClr val="FBA400"/>
    <a:srgbClr val="FFFEF7"/>
    <a:srgbClr val="FFF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81" autoAdjust="0"/>
  </p:normalViewPr>
  <p:slideViewPr>
    <p:cSldViewPr snapToGrid="0">
      <p:cViewPr varScale="1">
        <p:scale>
          <a:sx n="93" d="100"/>
          <a:sy n="93" d="100"/>
        </p:scale>
        <p:origin x="152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8DB6F-D407-4DAD-8E07-F71A85896F6E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FC6EB-00F9-4F26-856D-FED6C6A7B26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885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B4C759-8C62-86C9-3B17-92FACEE38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925" y="406400"/>
            <a:ext cx="645795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321D15F-B607-A2F4-7E5B-5C4C4A91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4266" y="3380783"/>
            <a:ext cx="5511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5970407-AC1E-7009-EC8F-8F2B816D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9266" y="6356350"/>
            <a:ext cx="1905000" cy="365125"/>
          </a:xfrm>
        </p:spPr>
        <p:txBody>
          <a:bodyPr/>
          <a:lstStyle/>
          <a:p>
            <a:fld id="{6D18414D-5A9A-49A8-AA48-E9E7CADEA260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0B12CD7-1DFB-6FCC-4B46-04083296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4114800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D0717B-501A-6AD2-FAD9-9FDB669F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356350"/>
            <a:ext cx="1159933" cy="365125"/>
          </a:xfrm>
        </p:spPr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4440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FFC90-3395-0A72-C175-88454A10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F9D1A7-AFA3-2D0A-5016-573C0085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EF1A98-39F2-BCFE-A768-C7C7269E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A3F0BBF-479B-F827-4D71-082BF9E1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6B33F-8770-9341-9E76-F7A43537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536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40951-16BA-65BD-FA23-BCD4B370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43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223BC3E-99ED-F861-2FB2-1837A862A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9433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4DFCE1-FF20-9098-F41B-CF8AE47B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27527C-339C-A319-5AB8-112FB83F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BC4418-4EF7-67F6-BB89-E7E06ACA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82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31BC1-8E05-7E69-F8A9-6DB02B03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ED6838-DD66-E35D-E7CC-C7808F5D6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8D7FE4F-8286-26BD-2F95-E57806EDF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0E1AED-39B0-79D9-7A2C-449973F5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254B2C4-BDF7-31CB-7DC9-B0843815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189A640-A58A-DEB2-536B-CD6A70C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889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C2B3A-1D0A-5865-BE4A-04C18894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7864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16E3B1D-231C-B7E9-8ECC-869ECCA35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64418"/>
            <a:ext cx="5157787" cy="7142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07D4D88-D8C1-6D25-C28C-87B8DCECC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99305"/>
            <a:ext cx="5157787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B794A09-E8F5-29C8-7AAA-9CCB4BF45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33991"/>
            <a:ext cx="5183188" cy="7446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06865D-4034-733F-0C0B-2A32C8EDB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299305"/>
            <a:ext cx="5183188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615BE59-3F81-7BD5-4DB4-278648CEC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E8CE4A8-74CC-EC89-649F-1C83DAD3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6CBCA2E-28ED-9718-15AD-1B3FFBE1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648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C4379-2683-9B5B-54BA-E3A63604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5F0E2A3-FBE9-DC25-394E-AE9A6C39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B400D92-2550-0867-9483-45ED646C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71C9D5D-E51E-CA71-9A90-C4EAB3B9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145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C5446D9-5DF5-F7C0-2628-90BC9A1C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F65D153-6E89-D8A5-45CD-F5E3B829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4BE700-8736-DEBD-54F5-CD85EBED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929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DB1C2-788C-5E67-1126-186FE5DF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A3E2AF-FE3E-C3CA-0E2C-9C0235AAD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72E7AF5-2E5A-4DE2-1F3D-EE384028A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4CCBAC4-7095-68D4-1F70-41489D11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9FD96D4-0AD8-6168-4590-B26CA93A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DB30B07-5631-A050-3B75-0C5F5D00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8018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B1091-E1AE-DDD5-15E4-4FBF3510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76DA624-4C35-30ED-18A7-B6FB1563D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C0BB913-4F09-18DD-A1BA-8427E3841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13FF6D7-870A-E1AF-4B59-6101B009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49C309F-2101-E8AD-9159-474BFC22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CEE4378-BA38-4FB0-C906-B9BA8993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161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D5996-E7C8-5CF7-C2D3-B8748FD4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E21B26B-BA69-E9AD-7CFF-9F7765932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4E0D85-1929-B19A-7CEE-1C5F655E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F32821-6BD5-551A-0269-B059B749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0D5A6D-2538-85A7-38BB-7F795A3E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944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B48FD73-4D0B-A3A3-2319-42AE9E726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365125"/>
            <a:ext cx="2671638" cy="545523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1C23176-7D84-A884-661D-CD5DEA048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4056" y="365125"/>
            <a:ext cx="8340918" cy="545523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AFAA59-F7D1-5531-36D8-900F9C11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06688D-6FDD-6771-2106-A56DB363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8D3E2E9-404E-C081-A941-A3629B30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35000">
              <a:srgbClr val="FFFEF3"/>
            </a:gs>
            <a:gs pos="62000">
              <a:srgbClr val="FFFEF7"/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CF1BF85-4B6C-F008-1B3C-11B47EC5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411684-1A7E-DFCF-F13E-B761FD6B0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7150" y="63103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8414D-5A9A-49A8-AA48-E9E7CADEA260}" type="datetimeFigureOut">
              <a:rPr lang="nl-NL" smtClean="0"/>
              <a:t>24-2-2026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B745CD-F00A-8626-6B75-9275E7713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4200" y="6310311"/>
            <a:ext cx="454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40EA63F-C77B-C305-2060-ECC251682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4500" y="6310312"/>
            <a:ext cx="1384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7" name="Picture 2" descr="Nova College zorgopleidingen inspireren studenten met casussen | BureauTekst">
            <a:extLst>
              <a:ext uri="{FF2B5EF4-FFF2-40B4-BE49-F238E27FC236}">
                <a16:creationId xmlns:a16="http://schemas.microsoft.com/office/drawing/2014/main" id="{E15B2672-438A-D562-D6EE-438FCB4005E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6" b="38682"/>
          <a:stretch>
            <a:fillRect/>
          </a:stretch>
        </p:blipFill>
        <p:spPr bwMode="auto">
          <a:xfrm>
            <a:off x="-186927" y="6217427"/>
            <a:ext cx="2664618" cy="64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DBB024C6-06AD-9F73-4AE8-0D072837629D}"/>
              </a:ext>
            </a:extLst>
          </p:cNvPr>
          <p:cNvSpPr/>
          <p:nvPr userDrawn="1"/>
        </p:nvSpPr>
        <p:spPr>
          <a:xfrm>
            <a:off x="230715" y="-55031"/>
            <a:ext cx="270000" cy="5782734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66087544-C7D3-7A9A-4800-2D515179E7A0}"/>
              </a:ext>
            </a:extLst>
          </p:cNvPr>
          <p:cNvSpPr/>
          <p:nvPr userDrawn="1"/>
        </p:nvSpPr>
        <p:spPr>
          <a:xfrm rot="16200000">
            <a:off x="6427197" y="294152"/>
            <a:ext cx="270000" cy="11530543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Cirkel: leeg 9">
            <a:extLst>
              <a:ext uri="{FF2B5EF4-FFF2-40B4-BE49-F238E27FC236}">
                <a16:creationId xmlns:a16="http://schemas.microsoft.com/office/drawing/2014/main" id="{4EF2F36C-85C6-F227-4C7C-C834D410BF31}"/>
              </a:ext>
            </a:extLst>
          </p:cNvPr>
          <p:cNvSpPr/>
          <p:nvPr userDrawn="1"/>
        </p:nvSpPr>
        <p:spPr>
          <a:xfrm>
            <a:off x="228598" y="5218536"/>
            <a:ext cx="991659" cy="987389"/>
          </a:xfrm>
          <a:prstGeom prst="donut">
            <a:avLst>
              <a:gd name="adj" fmla="val 27560"/>
            </a:avLst>
          </a:prstGeom>
          <a:gradFill flip="none" rotWithShape="1">
            <a:gsLst>
              <a:gs pos="0">
                <a:srgbClr val="FBA400">
                  <a:shade val="30000"/>
                  <a:satMod val="115000"/>
                </a:srgbClr>
              </a:gs>
              <a:gs pos="50000">
                <a:srgbClr val="FBA400">
                  <a:shade val="67500"/>
                  <a:satMod val="115000"/>
                </a:srgbClr>
              </a:gs>
              <a:gs pos="100000">
                <a:srgbClr val="FBA40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FFD04524-8452-D704-99A9-33F20CC99B04}"/>
              </a:ext>
            </a:extLst>
          </p:cNvPr>
          <p:cNvSpPr/>
          <p:nvPr userDrawn="1"/>
        </p:nvSpPr>
        <p:spPr>
          <a:xfrm>
            <a:off x="503358" y="4862527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103C7D41-C72B-C057-5586-DAF1E5937DA5}"/>
              </a:ext>
            </a:extLst>
          </p:cNvPr>
          <p:cNvSpPr/>
          <p:nvPr userDrawn="1"/>
        </p:nvSpPr>
        <p:spPr>
          <a:xfrm>
            <a:off x="764117" y="5107449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66F715E-90D2-E02A-35F3-028366BB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72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66458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9C727-01AA-4DB2-26AE-DD2FEFCD1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OOP – Les 3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32F1F9D-91AC-244B-A75C-5DE4D060B5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noProof="0" dirty="0" err="1"/>
              <a:t>Constructors</a:t>
            </a:r>
            <a:r>
              <a:rPr lang="nl-NL" noProof="0" dirty="0"/>
              <a:t> en </a:t>
            </a:r>
            <a:r>
              <a:rPr lang="nl-NL" noProof="0" dirty="0" err="1"/>
              <a:t>encapsulation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71776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A6729-DA06-A31E-E186-DB4347C4D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Programma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4437312-C8EB-5B12-F319-32106D696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Vorige week</a:t>
            </a:r>
          </a:p>
          <a:p>
            <a:r>
              <a:rPr lang="nl-NL" dirty="0"/>
              <a:t>Leerdoelen</a:t>
            </a:r>
            <a:endParaRPr lang="nl-NL" noProof="0" dirty="0"/>
          </a:p>
          <a:p>
            <a:r>
              <a:rPr lang="nl-NL" noProof="0" dirty="0" err="1"/>
              <a:t>Constructors</a:t>
            </a:r>
            <a:endParaRPr lang="nl-NL" noProof="0" dirty="0"/>
          </a:p>
          <a:p>
            <a:r>
              <a:rPr lang="nl-NL" noProof="0" dirty="0" err="1"/>
              <a:t>Encapsulation</a:t>
            </a:r>
            <a:endParaRPr lang="nl-NL" noProof="0" dirty="0"/>
          </a:p>
          <a:p>
            <a:r>
              <a:rPr lang="nl-NL" noProof="0" dirty="0"/>
              <a:t>Opdrachten</a:t>
            </a:r>
          </a:p>
        </p:txBody>
      </p:sp>
    </p:spTree>
    <p:extLst>
      <p:ext uri="{BB962C8B-B14F-4D97-AF65-F5344CB8AC3E}">
        <p14:creationId xmlns:p14="http://schemas.microsoft.com/office/powerpoint/2010/main" val="1236153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6A0F23-22E6-58D7-C22F-91EA7D2CB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Vorige week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53466E-5F76-0176-A861-51222D98E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40646" cy="3872442"/>
          </a:xfrm>
        </p:spPr>
        <p:txBody>
          <a:bodyPr/>
          <a:lstStyle/>
          <a:p>
            <a:r>
              <a:rPr lang="nl-NL" dirty="0"/>
              <a:t>A</a:t>
            </a:r>
            <a:r>
              <a:rPr lang="nl-NL" noProof="0" dirty="0" err="1"/>
              <a:t>ttributen</a:t>
            </a:r>
            <a:endParaRPr lang="nl-NL" noProof="0" dirty="0"/>
          </a:p>
          <a:p>
            <a:r>
              <a:rPr lang="nl-NL" noProof="0" dirty="0"/>
              <a:t>Methoden</a:t>
            </a:r>
          </a:p>
          <a:p>
            <a:r>
              <a:rPr lang="nl-NL" noProof="0" dirty="0" err="1"/>
              <a:t>Enums</a:t>
            </a:r>
            <a:endParaRPr lang="nl-NL" noProof="0" dirty="0"/>
          </a:p>
        </p:txBody>
      </p:sp>
      <p:pic>
        <p:nvPicPr>
          <p:cNvPr id="1030" name="Picture 6" descr="Roetz Road Ladies - Gerecycled frame - Duurzame fiets – STAAL Fietsen">
            <a:extLst>
              <a:ext uri="{FF2B5EF4-FFF2-40B4-BE49-F238E27FC236}">
                <a16:creationId xmlns:a16="http://schemas.microsoft.com/office/drawing/2014/main" id="{26BC5FE4-78A8-8CB6-12B9-0A8D9987D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08443" y="3037822"/>
            <a:ext cx="4248462" cy="424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912A8A77-EA09-087C-9223-A143E8618966}"/>
              </a:ext>
            </a:extLst>
          </p:cNvPr>
          <p:cNvSpPr txBox="1"/>
          <p:nvPr/>
        </p:nvSpPr>
        <p:spPr>
          <a:xfrm>
            <a:off x="7099152" y="2881474"/>
            <a:ext cx="3036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noProof="0" dirty="0"/>
              <a:t>Fietsen:</a:t>
            </a:r>
            <a:br>
              <a:rPr lang="nl-NL" noProof="0" dirty="0"/>
            </a:br>
            <a:br>
              <a:rPr lang="nl-NL" noProof="0" dirty="0"/>
            </a:br>
            <a:r>
              <a:rPr lang="nl-NL" noProof="0" dirty="0"/>
              <a:t>Wat heeft een fiets?</a:t>
            </a:r>
          </a:p>
        </p:txBody>
      </p:sp>
    </p:spTree>
    <p:extLst>
      <p:ext uri="{BB962C8B-B14F-4D97-AF65-F5344CB8AC3E}">
        <p14:creationId xmlns:p14="http://schemas.microsoft.com/office/powerpoint/2010/main" val="217067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2.22222E-6 L 0.89596 0.0009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9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09BE13-9BA9-C721-CD91-F8C4473E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Leerdoelen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6559E38-CB03-7B05-2304-6DF792F36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Aan het einde van de les:</a:t>
            </a:r>
          </a:p>
          <a:p>
            <a:pPr lvl="1"/>
            <a:r>
              <a:rPr lang="nl-NL" dirty="0"/>
              <a:t>Weet je wat een </a:t>
            </a:r>
            <a:r>
              <a:rPr lang="nl-NL" dirty="0" err="1"/>
              <a:t>constructor</a:t>
            </a:r>
            <a:r>
              <a:rPr lang="nl-NL" dirty="0"/>
              <a:t> is.</a:t>
            </a:r>
          </a:p>
          <a:p>
            <a:pPr lvl="1"/>
            <a:r>
              <a:rPr lang="nl-NL" dirty="0"/>
              <a:t>Weet je waarom je een </a:t>
            </a:r>
            <a:r>
              <a:rPr lang="nl-NL" dirty="0" err="1"/>
              <a:t>constructor</a:t>
            </a:r>
            <a:r>
              <a:rPr lang="nl-NL" dirty="0"/>
              <a:t> gebruikt.</a:t>
            </a:r>
          </a:p>
          <a:p>
            <a:pPr lvl="1"/>
            <a:r>
              <a:rPr lang="nl-NL" dirty="0"/>
              <a:t>Kan je een </a:t>
            </a:r>
            <a:r>
              <a:rPr lang="nl-NL" dirty="0" err="1"/>
              <a:t>constructor</a:t>
            </a:r>
            <a:r>
              <a:rPr lang="nl-NL" dirty="0"/>
              <a:t> maken voor je klas.</a:t>
            </a:r>
          </a:p>
          <a:p>
            <a:pPr lvl="1"/>
            <a:r>
              <a:rPr lang="nl-NL" dirty="0"/>
              <a:t>Weet je wat de basis van </a:t>
            </a:r>
            <a:r>
              <a:rPr lang="nl-NL" dirty="0" err="1"/>
              <a:t>encapsulation</a:t>
            </a:r>
            <a:r>
              <a:rPr lang="nl-NL" dirty="0"/>
              <a:t> inhoudt.</a:t>
            </a:r>
          </a:p>
          <a:p>
            <a:pPr lvl="1"/>
            <a:r>
              <a:rPr lang="nl-NL" dirty="0"/>
              <a:t>Weet je het verschil tussen public en private toegang.</a:t>
            </a:r>
          </a:p>
          <a:p>
            <a:pPr lvl="1"/>
            <a:r>
              <a:rPr lang="nl-NL" dirty="0"/>
              <a:t>Kan je public en private correct toepassen.</a:t>
            </a:r>
          </a:p>
        </p:txBody>
      </p:sp>
    </p:spTree>
    <p:extLst>
      <p:ext uri="{BB962C8B-B14F-4D97-AF65-F5344CB8AC3E}">
        <p14:creationId xmlns:p14="http://schemas.microsoft.com/office/powerpoint/2010/main" val="211440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1CBBC5-EDC9-C745-8ABA-F842D5295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Fietsenwinkel met 15 fietsen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7B5892A-E84B-FB3E-CCA2-B28BAF9F5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121"/>
            <a:ext cx="4421134" cy="4347946"/>
          </a:xfrm>
        </p:spPr>
        <p:txBody>
          <a:bodyPr>
            <a:no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/>
              <a:t>Fiets </a:t>
            </a:r>
            <a:r>
              <a:rPr lang="nl-NL" sz="300" dirty="0" err="1"/>
              <a:t>fiets</a:t>
            </a:r>
            <a:r>
              <a:rPr lang="nl-NL" sz="300" dirty="0"/>
              <a:t> = new Fiets();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fiets.merk</a:t>
            </a:r>
            <a:r>
              <a:rPr lang="nl-NL" sz="300" dirty="0"/>
              <a:t> = </a:t>
            </a:r>
            <a:r>
              <a:rPr lang="nl-NL" sz="300" dirty="0" err="1"/>
              <a:t>Merk.Batavus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fiets.prijs</a:t>
            </a:r>
            <a:r>
              <a:rPr lang="nl-NL" sz="300" dirty="0"/>
              <a:t> = 300;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fiets.kleur</a:t>
            </a:r>
            <a:r>
              <a:rPr lang="nl-NL" sz="300" dirty="0"/>
              <a:t> = </a:t>
            </a:r>
            <a:r>
              <a:rPr lang="nl-NL" sz="300" dirty="0" err="1"/>
              <a:t>Kleur.Blauw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fiets.isVerkocht</a:t>
            </a:r>
            <a:r>
              <a:rPr lang="nl-NL" sz="300" dirty="0"/>
              <a:t> = valse;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fiets.isHandrem</a:t>
            </a:r>
            <a:r>
              <a:rPr lang="nl-NL" sz="300" dirty="0"/>
              <a:t> = </a:t>
            </a:r>
            <a:r>
              <a:rPr lang="nl-NL" sz="300" dirty="0" err="1"/>
              <a:t>true</a:t>
            </a:r>
            <a:r>
              <a:rPr lang="nl-NL" sz="300" dirty="0"/>
              <a:t>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fiets.laatsteOnderhoud</a:t>
            </a:r>
            <a:r>
              <a:rPr lang="nl-NL" sz="300" dirty="0"/>
              <a:t> = 22/2/2025;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nl-NL" sz="300" dirty="0" err="1"/>
              <a:t>fiets.aantalVersnellingen</a:t>
            </a:r>
            <a:r>
              <a:rPr lang="nl-NL" sz="300" dirty="0"/>
              <a:t> = 3;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endParaRPr lang="nl-NL" sz="300" dirty="0"/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endParaRPr lang="nl-NL" sz="300" dirty="0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D338C65C-252D-6B33-08C4-302AD421387C}"/>
              </a:ext>
            </a:extLst>
          </p:cNvPr>
          <p:cNvSpPr/>
          <p:nvPr/>
        </p:nvSpPr>
        <p:spPr>
          <a:xfrm>
            <a:off x="1130300" y="2832100"/>
            <a:ext cx="711200" cy="4254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7727D34E-448F-DCF8-0438-26AA973B3253}"/>
              </a:ext>
            </a:extLst>
          </p:cNvPr>
          <p:cNvSpPr txBox="1"/>
          <p:nvPr/>
        </p:nvSpPr>
        <p:spPr>
          <a:xfrm>
            <a:off x="6456031" y="1699582"/>
            <a:ext cx="3405987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nl-NL" dirty="0"/>
              <a:t>Fiets </a:t>
            </a:r>
            <a:r>
              <a:rPr lang="nl-NL" dirty="0" err="1"/>
              <a:t>fiets</a:t>
            </a:r>
            <a:r>
              <a:rPr lang="nl-NL" dirty="0"/>
              <a:t> = new Fiets();</a:t>
            </a:r>
          </a:p>
          <a:p>
            <a:r>
              <a:rPr lang="nl-NL" dirty="0" err="1"/>
              <a:t>fiets.merk</a:t>
            </a:r>
            <a:r>
              <a:rPr lang="nl-NL" dirty="0"/>
              <a:t> = </a:t>
            </a:r>
            <a:r>
              <a:rPr lang="nl-NL" dirty="0" err="1"/>
              <a:t>Merk.Batavus</a:t>
            </a:r>
            <a:r>
              <a:rPr lang="nl-NL" dirty="0"/>
              <a:t>;</a:t>
            </a:r>
          </a:p>
          <a:p>
            <a:r>
              <a:rPr lang="nl-NL" dirty="0" err="1"/>
              <a:t>fiets.prijs</a:t>
            </a:r>
            <a:r>
              <a:rPr lang="nl-NL" dirty="0"/>
              <a:t> = 300;</a:t>
            </a:r>
          </a:p>
          <a:p>
            <a:r>
              <a:rPr lang="nl-NL" dirty="0" err="1"/>
              <a:t>fiets.kleur</a:t>
            </a:r>
            <a:r>
              <a:rPr lang="nl-NL" dirty="0"/>
              <a:t> = </a:t>
            </a:r>
            <a:r>
              <a:rPr lang="nl-NL" dirty="0" err="1"/>
              <a:t>Kleur.Blauw</a:t>
            </a:r>
            <a:r>
              <a:rPr lang="nl-NL" dirty="0"/>
              <a:t>;</a:t>
            </a:r>
          </a:p>
          <a:p>
            <a:r>
              <a:rPr lang="nl-NL" dirty="0" err="1"/>
              <a:t>fiets.isVerkocht</a:t>
            </a:r>
            <a:r>
              <a:rPr lang="nl-NL" dirty="0"/>
              <a:t> = valse;</a:t>
            </a:r>
          </a:p>
          <a:p>
            <a:r>
              <a:rPr lang="nl-NL" dirty="0" err="1"/>
              <a:t>fiets.isHandrem</a:t>
            </a:r>
            <a:r>
              <a:rPr lang="nl-NL" dirty="0"/>
              <a:t> = </a:t>
            </a:r>
            <a:r>
              <a:rPr lang="nl-NL" dirty="0" err="1"/>
              <a:t>true</a:t>
            </a:r>
            <a:r>
              <a:rPr lang="nl-NL" dirty="0"/>
              <a:t>;</a:t>
            </a:r>
          </a:p>
          <a:p>
            <a:r>
              <a:rPr lang="nl-NL" dirty="0" err="1"/>
              <a:t>fiets.laatsteOnderhoud</a:t>
            </a:r>
            <a:r>
              <a:rPr lang="nl-NL" dirty="0"/>
              <a:t> = 22/2/2025;</a:t>
            </a:r>
          </a:p>
          <a:p>
            <a:r>
              <a:rPr lang="nl-NL" dirty="0" err="1"/>
              <a:t>fiets.aantalVersnellingen</a:t>
            </a:r>
            <a:r>
              <a:rPr lang="nl-NL" dirty="0"/>
              <a:t> = 3;</a:t>
            </a:r>
          </a:p>
        </p:txBody>
      </p: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1CFB4FAF-3B84-F1C9-F796-A270BC46BA8D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1841500" y="2992244"/>
            <a:ext cx="4614531" cy="5258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49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25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5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25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25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75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25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25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25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25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75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25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25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250"/>
                            </p:stCondLst>
                            <p:childTnLst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25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500"/>
                            </p:stCondLst>
                            <p:childTnLst>
                              <p:par>
                                <p:cTn id="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25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75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25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000"/>
                            </p:stCondLst>
                            <p:childTnLst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25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6250"/>
                            </p:stCondLst>
                            <p:childTnLst>
                              <p:par>
                                <p:cTn id="1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25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6500"/>
                            </p:stCondLst>
                            <p:childTnLst>
                              <p:par>
                                <p:cTn id="1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25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6750"/>
                            </p:stCondLst>
                            <p:childTnLst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25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250"/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7250"/>
                            </p:stCondLst>
                            <p:childTnLst>
                              <p:par>
                                <p:cTn id="1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250"/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7500"/>
                            </p:stCondLst>
                            <p:childTnLst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250"/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7750"/>
                            </p:stCondLst>
                            <p:childTnLst>
                              <p:par>
                                <p:cTn id="1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250"/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00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250"/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8250"/>
                            </p:stCondLst>
                            <p:childTnLst>
                              <p:par>
                                <p:cTn id="1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250"/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8500"/>
                            </p:stCondLst>
                            <p:childTnLst>
                              <p:par>
                                <p:cTn id="1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250"/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8750"/>
                            </p:stCondLst>
                            <p:childTnLst>
                              <p:par>
                                <p:cTn id="1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250"/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9000"/>
                            </p:stCondLst>
                            <p:childTnLst>
                              <p:par>
                                <p:cTn id="1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250"/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250"/>
                            </p:stCondLst>
                            <p:childTnLst>
                              <p:par>
                                <p:cTn id="1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250"/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9500"/>
                            </p:stCondLst>
                            <p:childTnLst>
                              <p:par>
                                <p:cTn id="1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250"/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9750"/>
                            </p:stCondLst>
                            <p:childTnLst>
                              <p:par>
                                <p:cTn id="1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250"/>
                                        <p:tgtEl>
                                          <p:spTgt spid="3">
                                            <p:txEl>
                                              <p:pRg st="39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250"/>
                                        <p:tgtEl>
                                          <p:spTgt spid="3">
                                            <p:txEl>
                                              <p:pRg st="4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0250"/>
                            </p:stCondLst>
                            <p:childTnLst>
                              <p:par>
                                <p:cTn id="1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1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250"/>
                                        <p:tgtEl>
                                          <p:spTgt spid="3">
                                            <p:txEl>
                                              <p:pRg st="41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0500"/>
                            </p:stCondLst>
                            <p:childTnLst>
                              <p:par>
                                <p:cTn id="1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2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250"/>
                                        <p:tgtEl>
                                          <p:spTgt spid="3">
                                            <p:txEl>
                                              <p:pRg st="42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0750"/>
                            </p:stCondLst>
                            <p:childTnLst>
                              <p:par>
                                <p:cTn id="1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250"/>
                                        <p:tgtEl>
                                          <p:spTgt spid="3">
                                            <p:txEl>
                                              <p:pRg st="43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1000"/>
                            </p:stCondLst>
                            <p:childTnLst>
                              <p:par>
                                <p:cTn id="1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4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250"/>
                                        <p:tgtEl>
                                          <p:spTgt spid="3">
                                            <p:txEl>
                                              <p:pRg st="44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1250"/>
                            </p:stCondLst>
                            <p:childTnLst>
                              <p:par>
                                <p:cTn id="1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5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250"/>
                                        <p:tgtEl>
                                          <p:spTgt spid="3">
                                            <p:txEl>
                                              <p:pRg st="45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1500"/>
                            </p:stCondLst>
                            <p:childTnLst>
                              <p:par>
                                <p:cTn id="1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6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250"/>
                                        <p:tgtEl>
                                          <p:spTgt spid="3">
                                            <p:txEl>
                                              <p:pRg st="46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1750"/>
                            </p:stCondLst>
                            <p:childTnLst>
                              <p:par>
                                <p:cTn id="1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5" dur="250"/>
                                        <p:tgtEl>
                                          <p:spTgt spid="3">
                                            <p:txEl>
                                              <p:pRg st="47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8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250"/>
                                        <p:tgtEl>
                                          <p:spTgt spid="3">
                                            <p:txEl>
                                              <p:pRg st="48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2250"/>
                            </p:stCondLst>
                            <p:childTnLst>
                              <p:par>
                                <p:cTn id="2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9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250"/>
                                        <p:tgtEl>
                                          <p:spTgt spid="3">
                                            <p:txEl>
                                              <p:pRg st="49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250"/>
                                        <p:tgtEl>
                                          <p:spTgt spid="3">
                                            <p:txEl>
                                              <p:pRg st="50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12750"/>
                            </p:stCondLst>
                            <p:childTnLst>
                              <p:par>
                                <p:cTn id="2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1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1" dur="250"/>
                                        <p:tgtEl>
                                          <p:spTgt spid="3">
                                            <p:txEl>
                                              <p:pRg st="51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13000"/>
                            </p:stCondLst>
                            <p:childTnLst>
                              <p:par>
                                <p:cTn id="2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2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5" dur="250"/>
                                        <p:tgtEl>
                                          <p:spTgt spid="3">
                                            <p:txEl>
                                              <p:pRg st="52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13250"/>
                            </p:stCondLst>
                            <p:childTnLst>
                              <p:par>
                                <p:cTn id="2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3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250"/>
                                        <p:tgtEl>
                                          <p:spTgt spid="3">
                                            <p:txEl>
                                              <p:pRg st="53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3500"/>
                            </p:stCondLst>
                            <p:childTnLst>
                              <p:par>
                                <p:cTn id="2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4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250"/>
                                        <p:tgtEl>
                                          <p:spTgt spid="3">
                                            <p:txEl>
                                              <p:pRg st="54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13750"/>
                            </p:stCondLst>
                            <p:childTnLst>
                              <p:par>
                                <p:cTn id="2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5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250"/>
                                        <p:tgtEl>
                                          <p:spTgt spid="3">
                                            <p:txEl>
                                              <p:pRg st="55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4000"/>
                            </p:stCondLst>
                            <p:childTnLst>
                              <p:par>
                                <p:cTn id="2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250"/>
                                        <p:tgtEl>
                                          <p:spTgt spid="3">
                                            <p:txEl>
                                              <p:pRg st="56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4250"/>
                            </p:stCondLst>
                            <p:childTnLst>
                              <p:par>
                                <p:cTn id="2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7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250"/>
                                        <p:tgtEl>
                                          <p:spTgt spid="3">
                                            <p:txEl>
                                              <p:pRg st="57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14500"/>
                            </p:stCondLst>
                            <p:childTnLst>
                              <p:par>
                                <p:cTn id="2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8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9" dur="250"/>
                                        <p:tgtEl>
                                          <p:spTgt spid="3">
                                            <p:txEl>
                                              <p:pRg st="58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14750"/>
                            </p:stCondLst>
                            <p:childTnLst>
                              <p:par>
                                <p:cTn id="2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9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250"/>
                                        <p:tgtEl>
                                          <p:spTgt spid="3">
                                            <p:txEl>
                                              <p:pRg st="59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250"/>
                                        <p:tgtEl>
                                          <p:spTgt spid="3">
                                            <p:txEl>
                                              <p:pRg st="60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15250"/>
                            </p:stCondLst>
                            <p:childTnLst>
                              <p:par>
                                <p:cTn id="2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1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250"/>
                                        <p:tgtEl>
                                          <p:spTgt spid="3">
                                            <p:txEl>
                                              <p:pRg st="61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15500"/>
                            </p:stCondLst>
                            <p:childTnLst>
                              <p:par>
                                <p:cTn id="2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2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250"/>
                                        <p:tgtEl>
                                          <p:spTgt spid="3">
                                            <p:txEl>
                                              <p:pRg st="62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5750"/>
                            </p:stCondLst>
                            <p:childTnLst>
                              <p:par>
                                <p:cTn id="2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3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9" dur="250"/>
                                        <p:tgtEl>
                                          <p:spTgt spid="3">
                                            <p:txEl>
                                              <p:pRg st="63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16000"/>
                            </p:stCondLst>
                            <p:childTnLst>
                              <p:par>
                                <p:cTn id="2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4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250"/>
                                        <p:tgtEl>
                                          <p:spTgt spid="3">
                                            <p:txEl>
                                              <p:pRg st="64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6250"/>
                            </p:stCondLst>
                            <p:childTnLst>
                              <p:par>
                                <p:cTn id="2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5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7" dur="250"/>
                                        <p:tgtEl>
                                          <p:spTgt spid="3">
                                            <p:txEl>
                                              <p:pRg st="65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16500"/>
                            </p:stCondLst>
                            <p:childTnLst>
                              <p:par>
                                <p:cTn id="2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6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1" dur="250"/>
                                        <p:tgtEl>
                                          <p:spTgt spid="3">
                                            <p:txEl>
                                              <p:pRg st="66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16750"/>
                            </p:stCondLst>
                            <p:childTnLst>
                              <p:par>
                                <p:cTn id="2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7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5" dur="250"/>
                                        <p:tgtEl>
                                          <p:spTgt spid="3">
                                            <p:txEl>
                                              <p:pRg st="67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17000"/>
                            </p:stCondLst>
                            <p:childTnLst>
                              <p:par>
                                <p:cTn id="2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8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9" dur="250"/>
                                        <p:tgtEl>
                                          <p:spTgt spid="3">
                                            <p:txEl>
                                              <p:pRg st="68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17250"/>
                            </p:stCondLst>
                            <p:childTnLst>
                              <p:par>
                                <p:cTn id="2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9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3" dur="250"/>
                                        <p:tgtEl>
                                          <p:spTgt spid="3">
                                            <p:txEl>
                                              <p:pRg st="69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7500"/>
                            </p:stCondLst>
                            <p:childTnLst>
                              <p:par>
                                <p:cTn id="2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7" dur="250"/>
                                        <p:tgtEl>
                                          <p:spTgt spid="3">
                                            <p:txEl>
                                              <p:pRg st="70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17750"/>
                            </p:stCondLst>
                            <p:childTnLst>
                              <p:par>
                                <p:cTn id="2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1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1" dur="250"/>
                                        <p:tgtEl>
                                          <p:spTgt spid="3">
                                            <p:txEl>
                                              <p:pRg st="71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18000"/>
                            </p:stCondLst>
                            <p:childTnLst>
                              <p:par>
                                <p:cTn id="2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2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5" dur="250"/>
                                        <p:tgtEl>
                                          <p:spTgt spid="3">
                                            <p:txEl>
                                              <p:pRg st="72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18250"/>
                            </p:stCondLst>
                            <p:childTnLst>
                              <p:par>
                                <p:cTn id="2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3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9" dur="250"/>
                                        <p:tgtEl>
                                          <p:spTgt spid="3">
                                            <p:txEl>
                                              <p:pRg st="73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18500"/>
                            </p:stCondLst>
                            <p:childTnLst>
                              <p:par>
                                <p:cTn id="3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4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3" dur="250"/>
                                        <p:tgtEl>
                                          <p:spTgt spid="3">
                                            <p:txEl>
                                              <p:pRg st="74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18750"/>
                            </p:stCondLst>
                            <p:childTnLst>
                              <p:par>
                                <p:cTn id="3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5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7" dur="250"/>
                                        <p:tgtEl>
                                          <p:spTgt spid="3">
                                            <p:txEl>
                                              <p:pRg st="75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19000"/>
                            </p:stCondLst>
                            <p:childTnLst>
                              <p:par>
                                <p:cTn id="3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6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1" dur="250"/>
                                        <p:tgtEl>
                                          <p:spTgt spid="3">
                                            <p:txEl>
                                              <p:pRg st="76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19250"/>
                            </p:stCondLst>
                            <p:childTnLst>
                              <p:par>
                                <p:cTn id="3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7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5" dur="250"/>
                                        <p:tgtEl>
                                          <p:spTgt spid="3">
                                            <p:txEl>
                                              <p:pRg st="77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19500"/>
                            </p:stCondLst>
                            <p:childTnLst>
                              <p:par>
                                <p:cTn id="3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8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9" dur="250"/>
                                        <p:tgtEl>
                                          <p:spTgt spid="3">
                                            <p:txEl>
                                              <p:pRg st="78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19750"/>
                            </p:stCondLst>
                            <p:childTnLst>
                              <p:par>
                                <p:cTn id="3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9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3" dur="250"/>
                                        <p:tgtEl>
                                          <p:spTgt spid="3">
                                            <p:txEl>
                                              <p:pRg st="79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20000"/>
                            </p:stCondLst>
                            <p:childTnLst>
                              <p:par>
                                <p:cTn id="3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0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7" dur="250"/>
                                        <p:tgtEl>
                                          <p:spTgt spid="3">
                                            <p:txEl>
                                              <p:pRg st="80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20250"/>
                            </p:stCondLst>
                            <p:childTnLst>
                              <p:par>
                                <p:cTn id="3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1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1" dur="250"/>
                                        <p:tgtEl>
                                          <p:spTgt spid="3">
                                            <p:txEl>
                                              <p:pRg st="81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20500"/>
                            </p:stCondLst>
                            <p:childTnLst>
                              <p:par>
                                <p:cTn id="3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2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5" dur="250"/>
                                        <p:tgtEl>
                                          <p:spTgt spid="3">
                                            <p:txEl>
                                              <p:pRg st="82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>
                            <p:stCondLst>
                              <p:cond delay="20750"/>
                            </p:stCondLst>
                            <p:childTnLst>
                              <p:par>
                                <p:cTn id="3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3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9" dur="250"/>
                                        <p:tgtEl>
                                          <p:spTgt spid="3">
                                            <p:txEl>
                                              <p:pRg st="83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21000"/>
                            </p:stCondLst>
                            <p:childTnLst>
                              <p:par>
                                <p:cTn id="3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4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3" dur="250"/>
                                        <p:tgtEl>
                                          <p:spTgt spid="3">
                                            <p:txEl>
                                              <p:pRg st="84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21250"/>
                            </p:stCondLst>
                            <p:childTnLst>
                              <p:par>
                                <p:cTn id="3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5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7" dur="250"/>
                                        <p:tgtEl>
                                          <p:spTgt spid="3">
                                            <p:txEl>
                                              <p:pRg st="85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21500"/>
                            </p:stCondLst>
                            <p:childTnLst>
                              <p:par>
                                <p:cTn id="3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6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1" dur="250"/>
                                        <p:tgtEl>
                                          <p:spTgt spid="3">
                                            <p:txEl>
                                              <p:pRg st="86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21750"/>
                            </p:stCondLst>
                            <p:childTnLst>
                              <p:par>
                                <p:cTn id="3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7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5" dur="250"/>
                                        <p:tgtEl>
                                          <p:spTgt spid="3">
                                            <p:txEl>
                                              <p:pRg st="87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22000"/>
                            </p:stCondLst>
                            <p:childTnLst>
                              <p:par>
                                <p:cTn id="3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8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9" dur="250"/>
                                        <p:tgtEl>
                                          <p:spTgt spid="3">
                                            <p:txEl>
                                              <p:pRg st="88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22250"/>
                            </p:stCondLst>
                            <p:childTnLst>
                              <p:par>
                                <p:cTn id="3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9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3" dur="250"/>
                                        <p:tgtEl>
                                          <p:spTgt spid="3">
                                            <p:txEl>
                                              <p:pRg st="89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22500"/>
                            </p:stCondLst>
                            <p:childTnLst>
                              <p:par>
                                <p:cTn id="3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0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7" dur="250"/>
                                        <p:tgtEl>
                                          <p:spTgt spid="3">
                                            <p:txEl>
                                              <p:pRg st="90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22750"/>
                            </p:stCondLst>
                            <p:childTnLst>
                              <p:par>
                                <p:cTn id="3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1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1" dur="250"/>
                                        <p:tgtEl>
                                          <p:spTgt spid="3">
                                            <p:txEl>
                                              <p:pRg st="91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23000"/>
                            </p:stCondLst>
                            <p:childTnLst>
                              <p:par>
                                <p:cTn id="3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2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5" dur="250"/>
                                        <p:tgtEl>
                                          <p:spTgt spid="3">
                                            <p:txEl>
                                              <p:pRg st="92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23250"/>
                            </p:stCondLst>
                            <p:childTnLst>
                              <p:par>
                                <p:cTn id="3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3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9" dur="250"/>
                                        <p:tgtEl>
                                          <p:spTgt spid="3">
                                            <p:txEl>
                                              <p:pRg st="93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23500"/>
                            </p:stCondLst>
                            <p:childTnLst>
                              <p:par>
                                <p:cTn id="3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4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3" dur="250"/>
                                        <p:tgtEl>
                                          <p:spTgt spid="3">
                                            <p:txEl>
                                              <p:pRg st="94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23750"/>
                            </p:stCondLst>
                            <p:childTnLst>
                              <p:par>
                                <p:cTn id="3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5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7" dur="250"/>
                                        <p:tgtEl>
                                          <p:spTgt spid="3">
                                            <p:txEl>
                                              <p:pRg st="95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24000"/>
                            </p:stCondLst>
                            <p:childTnLst>
                              <p:par>
                                <p:cTn id="3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6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1" dur="250"/>
                                        <p:tgtEl>
                                          <p:spTgt spid="3">
                                            <p:txEl>
                                              <p:pRg st="96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24250"/>
                            </p:stCondLst>
                            <p:childTnLst>
                              <p:par>
                                <p:cTn id="3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7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5" dur="250"/>
                                        <p:tgtEl>
                                          <p:spTgt spid="3">
                                            <p:txEl>
                                              <p:pRg st="97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6" fill="hold">
                            <p:stCondLst>
                              <p:cond delay="24500"/>
                            </p:stCondLst>
                            <p:childTnLst>
                              <p:par>
                                <p:cTn id="3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8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9" dur="250"/>
                                        <p:tgtEl>
                                          <p:spTgt spid="3">
                                            <p:txEl>
                                              <p:pRg st="98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24750"/>
                            </p:stCondLst>
                            <p:childTnLst>
                              <p:par>
                                <p:cTn id="4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9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3" dur="250"/>
                                        <p:tgtEl>
                                          <p:spTgt spid="3">
                                            <p:txEl>
                                              <p:pRg st="99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0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7" dur="250"/>
                                        <p:tgtEl>
                                          <p:spTgt spid="3">
                                            <p:txEl>
                                              <p:pRg st="100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25250"/>
                            </p:stCondLst>
                            <p:childTnLst>
                              <p:par>
                                <p:cTn id="4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1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1" dur="250"/>
                                        <p:tgtEl>
                                          <p:spTgt spid="3">
                                            <p:txEl>
                                              <p:pRg st="101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25500"/>
                            </p:stCondLst>
                            <p:childTnLst>
                              <p:par>
                                <p:cTn id="4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2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5" dur="250"/>
                                        <p:tgtEl>
                                          <p:spTgt spid="3">
                                            <p:txEl>
                                              <p:pRg st="102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6" fill="hold">
                            <p:stCondLst>
                              <p:cond delay="25750"/>
                            </p:stCondLst>
                            <p:childTnLst>
                              <p:par>
                                <p:cTn id="4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3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9" dur="250"/>
                                        <p:tgtEl>
                                          <p:spTgt spid="3">
                                            <p:txEl>
                                              <p:pRg st="103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>
                            <p:stCondLst>
                              <p:cond delay="26000"/>
                            </p:stCondLst>
                            <p:childTnLst>
                              <p:par>
                                <p:cTn id="4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4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3" dur="250"/>
                                        <p:tgtEl>
                                          <p:spTgt spid="3">
                                            <p:txEl>
                                              <p:pRg st="104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26250"/>
                            </p:stCondLst>
                            <p:childTnLst>
                              <p:par>
                                <p:cTn id="4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5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7" dur="250"/>
                                        <p:tgtEl>
                                          <p:spTgt spid="3">
                                            <p:txEl>
                                              <p:pRg st="105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26500"/>
                            </p:stCondLst>
                            <p:childTnLst>
                              <p:par>
                                <p:cTn id="4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6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1" dur="250"/>
                                        <p:tgtEl>
                                          <p:spTgt spid="3">
                                            <p:txEl>
                                              <p:pRg st="106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2" fill="hold">
                            <p:stCondLst>
                              <p:cond delay="26750"/>
                            </p:stCondLst>
                            <p:childTnLst>
                              <p:par>
                                <p:cTn id="4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7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5" dur="250"/>
                                        <p:tgtEl>
                                          <p:spTgt spid="3">
                                            <p:txEl>
                                              <p:pRg st="107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6" fill="hold">
                            <p:stCondLst>
                              <p:cond delay="27000"/>
                            </p:stCondLst>
                            <p:childTnLst>
                              <p:par>
                                <p:cTn id="4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8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9" dur="250"/>
                                        <p:tgtEl>
                                          <p:spTgt spid="3">
                                            <p:txEl>
                                              <p:pRg st="108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27250"/>
                            </p:stCondLst>
                            <p:childTnLst>
                              <p:par>
                                <p:cTn id="4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9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3" dur="250"/>
                                        <p:tgtEl>
                                          <p:spTgt spid="3">
                                            <p:txEl>
                                              <p:pRg st="109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fill="hold">
                            <p:stCondLst>
                              <p:cond delay="27500"/>
                            </p:stCondLst>
                            <p:childTnLst>
                              <p:par>
                                <p:cTn id="4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7" dur="250"/>
                                        <p:tgtEl>
                                          <p:spTgt spid="3">
                                            <p:txEl>
                                              <p:pRg st="110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27750"/>
                            </p:stCondLst>
                            <p:childTnLst>
                              <p:par>
                                <p:cTn id="4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1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1" dur="250"/>
                                        <p:tgtEl>
                                          <p:spTgt spid="3">
                                            <p:txEl>
                                              <p:pRg st="111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2" fill="hold">
                            <p:stCondLst>
                              <p:cond delay="28000"/>
                            </p:stCondLst>
                            <p:childTnLst>
                              <p:par>
                                <p:cTn id="4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2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5" dur="250"/>
                                        <p:tgtEl>
                                          <p:spTgt spid="3">
                                            <p:txEl>
                                              <p:pRg st="112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fill="hold">
                            <p:stCondLst>
                              <p:cond delay="28250"/>
                            </p:stCondLst>
                            <p:childTnLst>
                              <p:par>
                                <p:cTn id="4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3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9" dur="250"/>
                                        <p:tgtEl>
                                          <p:spTgt spid="3">
                                            <p:txEl>
                                              <p:pRg st="113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>
                            <p:stCondLst>
                              <p:cond delay="28500"/>
                            </p:stCondLst>
                            <p:childTnLst>
                              <p:par>
                                <p:cTn id="4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4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3" dur="250"/>
                                        <p:tgtEl>
                                          <p:spTgt spid="3">
                                            <p:txEl>
                                              <p:pRg st="114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4" fill="hold">
                            <p:stCondLst>
                              <p:cond delay="28750"/>
                            </p:stCondLst>
                            <p:childTnLst>
                              <p:par>
                                <p:cTn id="4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5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7" dur="250"/>
                                        <p:tgtEl>
                                          <p:spTgt spid="3">
                                            <p:txEl>
                                              <p:pRg st="115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8" fill="hold">
                            <p:stCondLst>
                              <p:cond delay="29000"/>
                            </p:stCondLst>
                            <p:childTnLst>
                              <p:par>
                                <p:cTn id="4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1" dur="250"/>
                                        <p:tgtEl>
                                          <p:spTgt spid="3">
                                            <p:txEl>
                                              <p:pRg st="116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2" fill="hold">
                            <p:stCondLst>
                              <p:cond delay="29250"/>
                            </p:stCondLst>
                            <p:childTnLst>
                              <p:par>
                                <p:cTn id="4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7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5" dur="250"/>
                                        <p:tgtEl>
                                          <p:spTgt spid="3">
                                            <p:txEl>
                                              <p:pRg st="117" end="1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6" fill="hold">
                            <p:stCondLst>
                              <p:cond delay="29500"/>
                            </p:stCondLst>
                            <p:childTnLst>
                              <p:par>
                                <p:cTn id="4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8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9" dur="250"/>
                                        <p:tgtEl>
                                          <p:spTgt spid="3">
                                            <p:txEl>
                                              <p:pRg st="118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29750"/>
                            </p:stCondLst>
                            <p:childTnLst>
                              <p:par>
                                <p:cTn id="4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9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3" dur="250"/>
                                        <p:tgtEl>
                                          <p:spTgt spid="3">
                                            <p:txEl>
                                              <p:pRg st="119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indefinite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EF7CF5-8E7D-9969-0A84-44F070186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Constructor</a:t>
            </a:r>
            <a:r>
              <a:rPr lang="nl-NL" dirty="0"/>
              <a:t> – telefoon werkvorm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4EB114-B318-B48E-3039-1AAC6DE38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825625"/>
            <a:ext cx="9290050" cy="3872442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nl-NL" dirty="0"/>
              <a:t>Zoek je kaartgenoot en ga bij elkaar staan.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Ga op een logische volgorde staan.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Klassikaal lopen we het programma door.</a:t>
            </a:r>
          </a:p>
          <a:p>
            <a:pPr marL="514350" indent="-514350">
              <a:buFont typeface="+mj-lt"/>
              <a:buAutoNum type="arabicPeriod"/>
            </a:pPr>
            <a:endParaRPr lang="nl-NL" dirty="0"/>
          </a:p>
          <a:p>
            <a:pPr marL="0" indent="0">
              <a:buNone/>
            </a:pPr>
            <a:r>
              <a:rPr lang="nl-NL" dirty="0"/>
              <a:t>Lopen opnieuw dit door met nieuwe kaartjes</a:t>
            </a:r>
          </a:p>
          <a:p>
            <a:pPr marL="514350" indent="-514350">
              <a:buAutoNum type="arabicPeriod"/>
            </a:pPr>
            <a:r>
              <a:rPr lang="nl-NL" dirty="0"/>
              <a:t>Zoek je kaartgenoot en ga op de volgorde staan.</a:t>
            </a:r>
          </a:p>
          <a:p>
            <a:pPr marL="514350" indent="-514350">
              <a:buAutoNum type="arabicPeriod"/>
            </a:pPr>
            <a:r>
              <a:rPr lang="nl-NL" dirty="0"/>
              <a:t>Let op of je een </a:t>
            </a:r>
            <a:r>
              <a:rPr lang="nl-NL" dirty="0" err="1"/>
              <a:t>constructor</a:t>
            </a:r>
            <a:r>
              <a:rPr lang="nl-NL" dirty="0"/>
              <a:t> bent of niet. </a:t>
            </a:r>
          </a:p>
          <a:p>
            <a:pPr marL="514350" indent="-514350">
              <a:buAutoNum type="arabicPeriod"/>
            </a:pPr>
            <a:r>
              <a:rPr lang="nl-NL" dirty="0"/>
              <a:t>Klassikaal lopen we het programma door.</a:t>
            </a:r>
          </a:p>
        </p:txBody>
      </p:sp>
    </p:spTree>
    <p:extLst>
      <p:ext uri="{BB962C8B-B14F-4D97-AF65-F5344CB8AC3E}">
        <p14:creationId xmlns:p14="http://schemas.microsoft.com/office/powerpoint/2010/main" val="326886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4C979D1-D9D1-214C-72F0-72586AB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is </a:t>
            </a:r>
            <a:r>
              <a:rPr lang="nl-NL" dirty="0" err="1"/>
              <a:t>efficienter</a:t>
            </a:r>
            <a:r>
              <a:rPr lang="nl-NL" dirty="0"/>
              <a:t>/fijner?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4B32B00E-9600-A3B6-777B-785880ACCC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/>
              <a:t>Fiets </a:t>
            </a:r>
            <a:r>
              <a:rPr lang="nl-NL" dirty="0" err="1"/>
              <a:t>fiets</a:t>
            </a:r>
            <a:r>
              <a:rPr lang="nl-NL" dirty="0"/>
              <a:t> = new Fiets();</a:t>
            </a:r>
          </a:p>
          <a:p>
            <a:r>
              <a:rPr lang="nl-NL" dirty="0" err="1"/>
              <a:t>fiets.merk</a:t>
            </a:r>
            <a:r>
              <a:rPr lang="nl-NL" dirty="0"/>
              <a:t> = </a:t>
            </a:r>
            <a:r>
              <a:rPr lang="nl-NL" dirty="0" err="1"/>
              <a:t>Merk.Batavus</a:t>
            </a:r>
            <a:r>
              <a:rPr lang="nl-NL" dirty="0"/>
              <a:t>;</a:t>
            </a:r>
          </a:p>
          <a:p>
            <a:r>
              <a:rPr lang="nl-NL" dirty="0" err="1"/>
              <a:t>fiets.prijs</a:t>
            </a:r>
            <a:r>
              <a:rPr lang="nl-NL" dirty="0"/>
              <a:t> = 300;</a:t>
            </a:r>
          </a:p>
          <a:p>
            <a:r>
              <a:rPr lang="nl-NL" dirty="0" err="1"/>
              <a:t>fiets.kleur</a:t>
            </a:r>
            <a:r>
              <a:rPr lang="nl-NL" dirty="0"/>
              <a:t> = </a:t>
            </a:r>
            <a:r>
              <a:rPr lang="nl-NL" dirty="0" err="1"/>
              <a:t>Kleur.Blauw</a:t>
            </a:r>
            <a:r>
              <a:rPr lang="nl-NL" dirty="0"/>
              <a:t>;</a:t>
            </a:r>
          </a:p>
          <a:p>
            <a:r>
              <a:rPr lang="nl-NL" dirty="0" err="1"/>
              <a:t>fiets.isVerkocht</a:t>
            </a:r>
            <a:r>
              <a:rPr lang="nl-NL" dirty="0"/>
              <a:t> = valse;</a:t>
            </a:r>
          </a:p>
          <a:p>
            <a:r>
              <a:rPr lang="nl-NL" dirty="0" err="1"/>
              <a:t>fiets.isHandrem</a:t>
            </a:r>
            <a:r>
              <a:rPr lang="nl-NL" dirty="0"/>
              <a:t> = </a:t>
            </a:r>
            <a:r>
              <a:rPr lang="nl-NL" dirty="0" err="1"/>
              <a:t>true</a:t>
            </a:r>
            <a:r>
              <a:rPr lang="nl-NL" dirty="0"/>
              <a:t>;</a:t>
            </a:r>
          </a:p>
          <a:p>
            <a:r>
              <a:rPr lang="nl-NL" dirty="0" err="1"/>
              <a:t>fiets.laatsteOnderhoud</a:t>
            </a:r>
            <a:r>
              <a:rPr lang="nl-NL" dirty="0"/>
              <a:t> = 22/2/2025;</a:t>
            </a:r>
          </a:p>
          <a:p>
            <a:r>
              <a:rPr lang="nl-NL" dirty="0" err="1"/>
              <a:t>fiets.aantalVersnellingen</a:t>
            </a:r>
            <a:r>
              <a:rPr lang="nl-NL" dirty="0"/>
              <a:t> = 3;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0CE2110-6371-9D81-045F-47FEA0D446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/>
              <a:t>Fiets fiets= new Fiets (</a:t>
            </a:r>
            <a:r>
              <a:rPr lang="nl-NL" dirty="0" err="1"/>
              <a:t>Merk.batavus</a:t>
            </a:r>
            <a:r>
              <a:rPr lang="nl-NL" dirty="0"/>
              <a:t>,</a:t>
            </a:r>
            <a:br>
              <a:rPr lang="nl-NL" dirty="0"/>
            </a:br>
            <a:r>
              <a:rPr lang="nl-NL" dirty="0"/>
              <a:t>	300,</a:t>
            </a:r>
            <a:br>
              <a:rPr lang="nl-NL" dirty="0"/>
            </a:br>
            <a:r>
              <a:rPr lang="nl-NL" dirty="0"/>
              <a:t>	</a:t>
            </a:r>
            <a:r>
              <a:rPr lang="nl-NL" dirty="0" err="1"/>
              <a:t>Kleur.Blauw</a:t>
            </a:r>
            <a:r>
              <a:rPr lang="nl-NL" dirty="0"/>
              <a:t>,</a:t>
            </a:r>
            <a:br>
              <a:rPr lang="nl-NL" dirty="0"/>
            </a:br>
            <a:r>
              <a:rPr lang="nl-NL" dirty="0"/>
              <a:t>	Valse,</a:t>
            </a:r>
            <a:br>
              <a:rPr lang="nl-NL" dirty="0"/>
            </a:br>
            <a:r>
              <a:rPr lang="nl-NL" dirty="0"/>
              <a:t>	</a:t>
            </a:r>
            <a:r>
              <a:rPr lang="nl-NL" dirty="0" err="1"/>
              <a:t>true</a:t>
            </a:r>
            <a:r>
              <a:rPr lang="nl-NL" dirty="0"/>
              <a:t>,</a:t>
            </a:r>
            <a:br>
              <a:rPr lang="nl-NL" dirty="0"/>
            </a:br>
            <a:r>
              <a:rPr lang="nl-NL" dirty="0"/>
              <a:t>	22/2/2025,</a:t>
            </a:r>
            <a:br>
              <a:rPr lang="nl-NL" dirty="0"/>
            </a:br>
            <a:r>
              <a:rPr lang="nl-NL" dirty="0"/>
              <a:t>	3);</a:t>
            </a:r>
          </a:p>
        </p:txBody>
      </p:sp>
    </p:spTree>
    <p:extLst>
      <p:ext uri="{BB962C8B-B14F-4D97-AF65-F5344CB8AC3E}">
        <p14:creationId xmlns:p14="http://schemas.microsoft.com/office/powerpoint/2010/main" val="2443970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467E5-39E6-9E7F-1C58-6616329739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Demo </a:t>
            </a:r>
            <a:r>
              <a:rPr lang="nl-NL" dirty="0"/>
              <a:t>c</a:t>
            </a:r>
            <a:r>
              <a:rPr lang="nl-NL" noProof="0" dirty="0" err="1"/>
              <a:t>onstructor</a:t>
            </a:r>
            <a:r>
              <a:rPr lang="nl-NL" noProof="0" dirty="0"/>
              <a:t> – </a:t>
            </a:r>
            <a:r>
              <a:rPr lang="nl-NL" dirty="0"/>
              <a:t>Dieren maken</a:t>
            </a:r>
            <a:endParaRPr lang="nl-NL" noProof="0" dirty="0"/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F4ACC896-BCAF-B98F-9D41-FB96F193A0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0FD6809F-A96C-570D-37DB-176C77C0A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389" y="2397418"/>
            <a:ext cx="4071897" cy="4071897"/>
          </a:xfrm>
          <a:prstGeom prst="rect">
            <a:avLst/>
          </a:prstGeom>
        </p:spPr>
      </p:pic>
      <p:pic>
        <p:nvPicPr>
          <p:cNvPr id="5" name="Graphic 4" descr="Fabriek met effen opvulling">
            <a:extLst>
              <a:ext uri="{FF2B5EF4-FFF2-40B4-BE49-F238E27FC236}">
                <a16:creationId xmlns:a16="http://schemas.microsoft.com/office/drawing/2014/main" id="{6FDE38DE-9246-F143-F4C9-F902FA1CD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1477" y="2453306"/>
            <a:ext cx="4071896" cy="4071896"/>
          </a:xfrm>
          <a:prstGeom prst="rect">
            <a:avLst/>
          </a:prstGeom>
        </p:spPr>
      </p:pic>
      <p:pic>
        <p:nvPicPr>
          <p:cNvPr id="8" name="Graphic 7" descr="Hammer1 met effen opvulling">
            <a:extLst>
              <a:ext uri="{FF2B5EF4-FFF2-40B4-BE49-F238E27FC236}">
                <a16:creationId xmlns:a16="http://schemas.microsoft.com/office/drawing/2014/main" id="{6B1DFE36-8178-44EB-CDDD-86A6DF5667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95549" y="1899282"/>
            <a:ext cx="1586085" cy="158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68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E4EFD7-6540-115E-779E-2540AE4C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Opdracht – </a:t>
            </a:r>
            <a:r>
              <a:rPr lang="nl-NL" dirty="0" err="1"/>
              <a:t>constructor</a:t>
            </a:r>
            <a:r>
              <a:rPr lang="nl-NL" dirty="0"/>
              <a:t> maken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6583083-241E-B364-8A24-28A72D29A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Dummy meneer-&gt;OOP-&gt;Opdrachten-&gt;Opdracht week 3</a:t>
            </a:r>
          </a:p>
          <a:p>
            <a:r>
              <a:rPr lang="nl-NL" dirty="0"/>
              <a:t>(Zipfile downloaden is net zo handig)</a:t>
            </a:r>
          </a:p>
          <a:p>
            <a:endParaRPr lang="nl-NL" dirty="0"/>
          </a:p>
          <a:p>
            <a:r>
              <a:rPr lang="nl-NL" dirty="0"/>
              <a:t>Maak de </a:t>
            </a:r>
            <a:r>
              <a:rPr lang="nl-NL" dirty="0" err="1"/>
              <a:t>TODO’s</a:t>
            </a:r>
            <a:r>
              <a:rPr lang="nl-NL" dirty="0"/>
              <a:t> van Opdracht 1</a:t>
            </a:r>
          </a:p>
          <a:p>
            <a:endParaRPr lang="nl-NL" dirty="0"/>
          </a:p>
          <a:p>
            <a:r>
              <a:rPr lang="nl-NL" dirty="0"/>
              <a:t>Opdracht 2 komt later</a:t>
            </a:r>
          </a:p>
        </p:txBody>
      </p:sp>
    </p:spTree>
    <p:extLst>
      <p:ext uri="{BB962C8B-B14F-4D97-AF65-F5344CB8AC3E}">
        <p14:creationId xmlns:p14="http://schemas.microsoft.com/office/powerpoint/2010/main" val="1205254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F8F61-D683-1409-E0A9-A865BBB0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Voordelen van </a:t>
            </a:r>
            <a:r>
              <a:rPr lang="nl-NL" dirty="0" err="1"/>
              <a:t>Constructors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8323B1-99C1-B6D9-4D9B-4862FE181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Sneller met vaste data opzetten</a:t>
            </a:r>
          </a:p>
          <a:p>
            <a:r>
              <a:rPr lang="nl-NL" dirty="0"/>
              <a:t>Dynamische data word beter omgezet (DB naar code of omgekeerd)</a:t>
            </a:r>
          </a:p>
          <a:p>
            <a:r>
              <a:rPr lang="nl-NL" dirty="0"/>
              <a:t>Overzichtelijker voor programmeurs</a:t>
            </a:r>
          </a:p>
        </p:txBody>
      </p:sp>
    </p:spTree>
    <p:extLst>
      <p:ext uri="{BB962C8B-B14F-4D97-AF65-F5344CB8AC3E}">
        <p14:creationId xmlns:p14="http://schemas.microsoft.com/office/powerpoint/2010/main" val="2749472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613824-AD1A-7B69-EC29-0A86C971E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Klassendiscussie - Bank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54F881-C567-94AC-E8AA-43E5F3FCE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Welke Gegevens moeten veilig zijn bij een bank?</a:t>
            </a:r>
          </a:p>
          <a:p>
            <a:r>
              <a:rPr lang="nl-NL" dirty="0"/>
              <a:t>Waar mag iedereen bij kunnen?</a:t>
            </a:r>
          </a:p>
          <a:p>
            <a:r>
              <a:rPr lang="nl-NL" dirty="0"/>
              <a:t>Waar mag niemand bij kunnen?</a:t>
            </a:r>
          </a:p>
        </p:txBody>
      </p:sp>
      <p:pic>
        <p:nvPicPr>
          <p:cNvPr id="5" name="Graphic 4" descr="Bank met effen opvulling">
            <a:extLst>
              <a:ext uri="{FF2B5EF4-FFF2-40B4-BE49-F238E27FC236}">
                <a16:creationId xmlns:a16="http://schemas.microsoft.com/office/drawing/2014/main" id="{E98CCFE7-572B-E86E-825C-F3DC26789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06787" y="3681281"/>
            <a:ext cx="2564207" cy="2564207"/>
          </a:xfrm>
          <a:prstGeom prst="rect">
            <a:avLst/>
          </a:prstGeom>
        </p:spPr>
      </p:pic>
      <p:pic>
        <p:nvPicPr>
          <p:cNvPr id="7" name="Graphic 6" descr="Spaarvarken met effen opvulling">
            <a:extLst>
              <a:ext uri="{FF2B5EF4-FFF2-40B4-BE49-F238E27FC236}">
                <a16:creationId xmlns:a16="http://schemas.microsoft.com/office/drawing/2014/main" id="{5CCA8E92-9FEB-625F-3907-63A59F467F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342" y="4314052"/>
            <a:ext cx="1931436" cy="193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02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41B243-DA58-7AF4-FA7F-E95FF01A2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Encapsulation</a:t>
            </a:r>
            <a:r>
              <a:rPr lang="nl-NL" dirty="0"/>
              <a:t> - afscherming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FE6193E-4250-5C63-D75B-2E7E7E832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Sommige gegevens moeten afgeschermd worden van het gehele programma.</a:t>
            </a:r>
          </a:p>
          <a:p>
            <a:r>
              <a:rPr lang="nl-NL" dirty="0"/>
              <a:t>Dit beschermt gegevens en processen.</a:t>
            </a:r>
          </a:p>
          <a:p>
            <a:r>
              <a:rPr lang="nl-NL" dirty="0"/>
              <a:t>Dit blokkeert niet alles maar wel enkele aanvallen. (Code </a:t>
            </a:r>
            <a:r>
              <a:rPr lang="nl-NL" dirty="0" err="1"/>
              <a:t>kiddies</a:t>
            </a:r>
            <a:r>
              <a:rPr lang="nl-NL" dirty="0"/>
              <a:t>)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41602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072A0BF-2704-C997-4286-9A3D47255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Toegang opties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5ABD16A-C483-BF49-2E4C-73F75C1A8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Public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4AC1AEA-89A2-B92A-6F20-1F1232AE12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/>
              <a:t>Alles en iedereen kan hierbij</a:t>
            </a:r>
          </a:p>
          <a:p>
            <a:r>
              <a:rPr lang="nl-NL" dirty="0"/>
              <a:t>Alleen een instantie nodig van de </a:t>
            </a:r>
            <a:r>
              <a:rPr lang="nl-NL" dirty="0" err="1"/>
              <a:t>klass</a:t>
            </a:r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5ED2D01-B1FD-7A25-BD1C-436B8DA6BE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Private</a:t>
            </a:r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C5841B91-0912-0D74-5D2B-04C830A9169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nl-NL" dirty="0"/>
              <a:t>Enkel binnen de klas kan je hier bij</a:t>
            </a:r>
          </a:p>
          <a:p>
            <a:r>
              <a:rPr lang="nl-NL" dirty="0"/>
              <a:t>Kinder-klassen kunnen hier niet bij</a:t>
            </a:r>
          </a:p>
        </p:txBody>
      </p:sp>
      <p:pic>
        <p:nvPicPr>
          <p:cNvPr id="10" name="Graphic 9" descr="Klep open met effen opvulling">
            <a:extLst>
              <a:ext uri="{FF2B5EF4-FFF2-40B4-BE49-F238E27FC236}">
                <a16:creationId xmlns:a16="http://schemas.microsoft.com/office/drawing/2014/main" id="{CDB3AAE2-8B0A-7C8F-CFC3-9F6A79C70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71443" y="3873925"/>
            <a:ext cx="1829823" cy="1829823"/>
          </a:xfrm>
          <a:prstGeom prst="rect">
            <a:avLst/>
          </a:prstGeom>
        </p:spPr>
      </p:pic>
      <p:pic>
        <p:nvPicPr>
          <p:cNvPr id="12" name="Graphic 11" descr="Vergrendelen met effen opvulling">
            <a:extLst>
              <a:ext uri="{FF2B5EF4-FFF2-40B4-BE49-F238E27FC236}">
                <a16:creationId xmlns:a16="http://schemas.microsoft.com/office/drawing/2014/main" id="{96A21257-5E23-D67C-CE00-92B43FED24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1243" y="244477"/>
            <a:ext cx="1581632" cy="158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699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AB6F26-31BC-E8D8-1B1C-87BAF281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Toegang opties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7D65BB8-57D7-AE56-B8DA-BFB43F956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Protected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8E936DA-C297-B403-E64F-6AA8E1094C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/>
              <a:t>Te bereiken via de class of een methode die met de class werkt</a:t>
            </a:r>
          </a:p>
          <a:p>
            <a:r>
              <a:rPr lang="nl-NL" dirty="0"/>
              <a:t>Kinderen hebben ook toegang</a:t>
            </a:r>
          </a:p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E218ECB-C0B0-052A-AAF1-C15E547220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1F56BAD-3271-7C63-18E1-402EC4BB8B4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026" name="Picture 2" descr="Protected vs Private Access Modifiers in Java - GeeksforGeeks">
            <a:extLst>
              <a:ext uri="{FF2B5EF4-FFF2-40B4-BE49-F238E27FC236}">
                <a16:creationId xmlns:a16="http://schemas.microsoft.com/office/drawing/2014/main" id="{62A94EE7-BDF9-FB4D-3ED0-769705DDA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258" y="3836195"/>
            <a:ext cx="6263742" cy="2139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671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551C08-C712-79EF-F92C-4094E954FC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Demo </a:t>
            </a:r>
            <a:r>
              <a:rPr lang="nl-NL" dirty="0" err="1"/>
              <a:t>encapulation</a:t>
            </a:r>
            <a:r>
              <a:rPr lang="nl-NL" dirty="0"/>
              <a:t>– Dieren adopteren</a:t>
            </a:r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23656368-C13C-6962-897F-3417F171CD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4EC84218-A8E0-E8A9-A1E0-3E87E093A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389" y="2397418"/>
            <a:ext cx="4071897" cy="4071897"/>
          </a:xfrm>
          <a:prstGeom prst="rect">
            <a:avLst/>
          </a:prstGeom>
        </p:spPr>
      </p:pic>
      <p:pic>
        <p:nvPicPr>
          <p:cNvPr id="6" name="Graphic 5" descr="Strik met effen opvulling">
            <a:extLst>
              <a:ext uri="{FF2B5EF4-FFF2-40B4-BE49-F238E27FC236}">
                <a16:creationId xmlns:a16="http://schemas.microsoft.com/office/drawing/2014/main" id="{964BB52D-8A52-A128-0CD4-B3CEEA9EB5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0197" y="3915464"/>
            <a:ext cx="1655523" cy="165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913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6458FE-6683-50D0-1D79-7989F697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Opdracht </a:t>
            </a:r>
            <a:r>
              <a:rPr lang="nl-NL" dirty="0" err="1"/>
              <a:t>encapsulation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2F1092A-56AE-4076-2404-A6245DF1C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Zelfde opdrachtfiles als bij </a:t>
            </a:r>
            <a:r>
              <a:rPr lang="nl-NL" dirty="0" err="1"/>
              <a:t>constructors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Maak nu de </a:t>
            </a:r>
            <a:r>
              <a:rPr lang="nl-NL" dirty="0" err="1"/>
              <a:t>TODO’s</a:t>
            </a:r>
            <a:r>
              <a:rPr lang="nl-NL" dirty="0"/>
              <a:t> van opdracht 2</a:t>
            </a:r>
          </a:p>
          <a:p>
            <a:endParaRPr lang="nl-NL" dirty="0"/>
          </a:p>
          <a:p>
            <a:r>
              <a:rPr lang="nl-NL" dirty="0"/>
              <a:t>Maak het programma zo veilig mogelijk!</a:t>
            </a:r>
          </a:p>
        </p:txBody>
      </p:sp>
    </p:spTree>
    <p:extLst>
      <p:ext uri="{BB962C8B-B14F-4D97-AF65-F5344CB8AC3E}">
        <p14:creationId xmlns:p14="http://schemas.microsoft.com/office/powerpoint/2010/main" val="812750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8AEF2-B1E0-DC5C-29EF-6DC8FC82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Volgende week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3088DE-78F2-873D-A6F7-351239A77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Klassendiagram</a:t>
            </a:r>
          </a:p>
          <a:p>
            <a:endParaRPr lang="nl-NL" noProof="0" dirty="0"/>
          </a:p>
        </p:txBody>
      </p:sp>
      <p:pic>
        <p:nvPicPr>
          <p:cNvPr id="5" name="Graphic 4" descr="Stroomdiagram silhouet">
            <a:extLst>
              <a:ext uri="{FF2B5EF4-FFF2-40B4-BE49-F238E27FC236}">
                <a16:creationId xmlns:a16="http://schemas.microsoft.com/office/drawing/2014/main" id="{6C2B330A-5E2E-8637-7618-FD2745600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9868" y="1254958"/>
            <a:ext cx="2457874" cy="2457874"/>
          </a:xfrm>
          <a:prstGeom prst="rect">
            <a:avLst/>
          </a:prstGeom>
        </p:spPr>
      </p:pic>
      <p:pic>
        <p:nvPicPr>
          <p:cNvPr id="7" name="Graphic 6" descr="Beslisdiagram silhouet">
            <a:extLst>
              <a:ext uri="{FF2B5EF4-FFF2-40B4-BE49-F238E27FC236}">
                <a16:creationId xmlns:a16="http://schemas.microsoft.com/office/drawing/2014/main" id="{C79C6387-3EDB-63D0-57F4-43BBA2CC3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9796" y="2872169"/>
            <a:ext cx="2086455" cy="2086455"/>
          </a:xfrm>
          <a:prstGeom prst="rect">
            <a:avLst/>
          </a:prstGeom>
        </p:spPr>
      </p:pic>
      <p:pic>
        <p:nvPicPr>
          <p:cNvPr id="9" name="Graphic 8" descr="Netwerkdiagram met effen opvulling">
            <a:extLst>
              <a:ext uri="{FF2B5EF4-FFF2-40B4-BE49-F238E27FC236}">
                <a16:creationId xmlns:a16="http://schemas.microsoft.com/office/drawing/2014/main" id="{57CFF4E7-04F9-1BD0-5C54-57F3909BDA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90654" y="387450"/>
            <a:ext cx="3839975" cy="189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2168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e2" id="{9E7AAD1C-B155-4896-B55B-3944D7133965}" vid="{4C889715-0D36-4A12-BFED-915D686707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Nova1</Template>
  <TotalTime>0</TotalTime>
  <Words>1273</Words>
  <Application>Microsoft Office PowerPoint</Application>
  <PresentationFormat>Breedbeeld</PresentationFormat>
  <Paragraphs>209</Paragraphs>
  <Slides>17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Kantoorthema</vt:lpstr>
      <vt:lpstr>OOP – Les 3</vt:lpstr>
      <vt:lpstr>Programma</vt:lpstr>
      <vt:lpstr>Vorige week</vt:lpstr>
      <vt:lpstr>Leerdoelen</vt:lpstr>
      <vt:lpstr>Fietsenwinkel met 15 fietsen</vt:lpstr>
      <vt:lpstr>Constructor – telefoon werkvorm</vt:lpstr>
      <vt:lpstr>Wat is efficienter/fijner?</vt:lpstr>
      <vt:lpstr>Demo constructor – Dieren maken</vt:lpstr>
      <vt:lpstr>Opdracht – constructor maken</vt:lpstr>
      <vt:lpstr>Voordelen van Constructors</vt:lpstr>
      <vt:lpstr>Klassendiscussie - Bank</vt:lpstr>
      <vt:lpstr>Encapsulation - afscherming</vt:lpstr>
      <vt:lpstr>Toegang opties</vt:lpstr>
      <vt:lpstr>Toegang opties</vt:lpstr>
      <vt:lpstr>Demo encapulation– Dieren adopteren</vt:lpstr>
      <vt:lpstr>Opdracht encapsulation</vt:lpstr>
      <vt:lpstr>Volgende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Erwin van Hunnik</dc:creator>
  <cp:lastModifiedBy>Erwin van Hunnik</cp:lastModifiedBy>
  <cp:revision>23</cp:revision>
  <dcterms:created xsi:type="dcterms:W3CDTF">2026-02-09T20:08:51Z</dcterms:created>
  <dcterms:modified xsi:type="dcterms:W3CDTF">2026-02-23T23:23:45Z</dcterms:modified>
</cp:coreProperties>
</file>